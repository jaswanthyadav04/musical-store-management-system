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7"/>
  </p:notesMasterIdLst>
  <p:sldIdLst>
    <p:sldId id="256" r:id="rId2"/>
    <p:sldId id="289" r:id="rId3"/>
    <p:sldId id="257" r:id="rId4"/>
    <p:sldId id="258" r:id="rId5"/>
    <p:sldId id="262" r:id="rId6"/>
    <p:sldId id="263" r:id="rId7"/>
    <p:sldId id="261" r:id="rId8"/>
    <p:sldId id="284" r:id="rId9"/>
    <p:sldId id="285" r:id="rId10"/>
    <p:sldId id="286" r:id="rId11"/>
    <p:sldId id="287" r:id="rId12"/>
    <p:sldId id="288" r:id="rId13"/>
    <p:sldId id="281" r:id="rId14"/>
    <p:sldId id="282" r:id="rId15"/>
    <p:sldId id="259" r:id="rId16"/>
  </p:sldIdLst>
  <p:sldSz cx="12192000" cy="6858000"/>
  <p:notesSz cx="6858000" cy="9144000"/>
  <p:embeddedFontLst>
    <p:embeddedFont>
      <p:font typeface="Arial Black" panose="020B0A04020102020204" pitchFamily="34" charset="0"/>
      <p:bold r:id="rId18"/>
    </p:embeddedFont>
    <p:embeddedFont>
      <p:font typeface="Cooper Black" panose="0208090404030B020404" pitchFamily="18" charset="0"/>
      <p:regular r:id="rId19"/>
    </p:embeddedFont>
    <p:embeddedFont>
      <p:font typeface="Libre Baskerville" panose="02000000000000000000" pitchFamily="2" charset="0"/>
      <p:regular r:id="rId20"/>
      <p:bold r:id="rId21"/>
      <p:italic r:id="rId22"/>
      <p:boldItalic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B7477A52-A40B-4B38-A189-32219EA9CEEB}">
          <p14:sldIdLst>
            <p14:sldId id="256"/>
            <p14:sldId id="289"/>
            <p14:sldId id="257"/>
            <p14:sldId id="258"/>
            <p14:sldId id="262"/>
            <p14:sldId id="263"/>
            <p14:sldId id="261"/>
          </p14:sldIdLst>
        </p14:section>
        <p14:section name="Untitled Section" id="{9C8D48F2-BD57-4173-8DB0-3EC28CE28CC2}">
          <p14:sldIdLst>
            <p14:sldId id="284"/>
            <p14:sldId id="285"/>
            <p14:sldId id="286"/>
            <p14:sldId id="287"/>
            <p14:sldId id="288"/>
            <p14:sldId id="281"/>
            <p14:sldId id="282"/>
            <p14:sldId id="259"/>
          </p14:sldIdLst>
        </p14:section>
      </p14:sectionLst>
    </p:ex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4"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690" autoAdjust="0"/>
  </p:normalViewPr>
  <p:slideViewPr>
    <p:cSldViewPr snapToGrid="0">
      <p:cViewPr varScale="1">
        <p:scale>
          <a:sx n="77" d="100"/>
          <a:sy n="77" d="100"/>
        </p:scale>
        <p:origin x="883"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font" Target="fonts/font4.fntdata"/><Relationship Id="rId34"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35"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8533F061-3C78-4D3D-7816-BB978843C4F5}"/>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2C97009B-DEBC-50C9-3D52-3EF244B69B7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a:extLst>
              <a:ext uri="{FF2B5EF4-FFF2-40B4-BE49-F238E27FC236}">
                <a16:creationId xmlns:a16="http://schemas.microsoft.com/office/drawing/2014/main" id="{7A933C18-2019-63DF-2E74-6DF795C68B3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23512400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B197750-5EA6-7EB7-80FA-BEEE68974FE4}"/>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BEC47A0-979D-B7DB-8D98-E1C077E05BD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a:extLst>
              <a:ext uri="{FF2B5EF4-FFF2-40B4-BE49-F238E27FC236}">
                <a16:creationId xmlns:a16="http://schemas.microsoft.com/office/drawing/2014/main" id="{A948EC7F-639F-088C-3777-55F59FCCFDB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32602058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09DB9E71-4873-E6A5-EF81-DF0E971E6720}"/>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E7920884-D794-75D7-05E0-1874B61A434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a:extLst>
              <a:ext uri="{FF2B5EF4-FFF2-40B4-BE49-F238E27FC236}">
                <a16:creationId xmlns:a16="http://schemas.microsoft.com/office/drawing/2014/main" id="{CE38DB36-9C79-E62C-D0EB-2809FB8C806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8448314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9D58FFE5-3646-ADE4-0709-C98B721966E5}"/>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A1331C3C-097C-8D8E-7923-B0310070C5C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a:extLst>
              <a:ext uri="{FF2B5EF4-FFF2-40B4-BE49-F238E27FC236}">
                <a16:creationId xmlns:a16="http://schemas.microsoft.com/office/drawing/2014/main" id="{67A3FE3F-5E4E-2A40-74D8-4CD8A037392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21941358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BB424CB7-E7B2-92DD-EE57-25206ED1E8F0}"/>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3CD3D2C3-4ECB-5B5F-08F8-92D192DFDB0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a:extLst>
              <a:ext uri="{FF2B5EF4-FFF2-40B4-BE49-F238E27FC236}">
                <a16:creationId xmlns:a16="http://schemas.microsoft.com/office/drawing/2014/main" id="{44E37E46-3C4E-AF25-324B-372415F9C4E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40343502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A669B90A-77A2-516E-F1C0-01F3AF452C56}"/>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EE78CF2C-822B-AAE9-B72D-8FBF2FE3613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a:extLst>
              <a:ext uri="{FF2B5EF4-FFF2-40B4-BE49-F238E27FC236}">
                <a16:creationId xmlns:a16="http://schemas.microsoft.com/office/drawing/2014/main" id="{629AB85B-20AA-88D8-EE48-49F78BC37BB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2889572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4AA8885-2C61-EDD5-F453-F5EA75FD9C24}"/>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F971D050-687E-A40F-AEF4-EDC7BE5DF48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a:extLst>
              <a:ext uri="{FF2B5EF4-FFF2-40B4-BE49-F238E27FC236}">
                <a16:creationId xmlns:a16="http://schemas.microsoft.com/office/drawing/2014/main" id="{B1D3DEF9-DB0C-99B1-5E29-2EF3A88DC64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13165556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33AF07FA-F6B1-0B1A-9EB9-F45ED8687235}"/>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0FFFE3DE-25FF-CC72-432C-28147F5601E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a:extLst>
              <a:ext uri="{FF2B5EF4-FFF2-40B4-BE49-F238E27FC236}">
                <a16:creationId xmlns:a16="http://schemas.microsoft.com/office/drawing/2014/main" id="{A45718E6-17EA-096F-C77C-4BCE15585AD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21916021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0DDC844A-8F9A-E1A5-132B-291391B69E9F}"/>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5D49E7BC-E12F-8ADF-40AC-CB84886973B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a:extLst>
              <a:ext uri="{FF2B5EF4-FFF2-40B4-BE49-F238E27FC236}">
                <a16:creationId xmlns:a16="http://schemas.microsoft.com/office/drawing/2014/main" id="{F280924D-876C-3421-7BD9-EAF595E1610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41352497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7CC874A4-D437-C970-31A9-9C86686FDFB4}"/>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40302A0A-349C-42AE-5025-120245A786E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a:extLst>
              <a:ext uri="{FF2B5EF4-FFF2-40B4-BE49-F238E27FC236}">
                <a16:creationId xmlns:a16="http://schemas.microsoft.com/office/drawing/2014/main" id="{4012BD57-5065-C72A-EE11-B21CD41B026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30861864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txBody>
          <a:bodyPr/>
          <a:lstStyle/>
          <a:p>
            <a:endParaRPr lang="en-IN"/>
          </a:p>
        </p:txBody>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0" y="173841"/>
            <a:ext cx="12190815" cy="6694098"/>
          </a:xfrm>
          <a:prstGeom prst="rect">
            <a:avLst/>
          </a:prstGeom>
          <a:noFill/>
          <a:ln>
            <a:noFill/>
          </a:ln>
        </p:spPr>
      </p:pic>
      <p:sp>
        <p:nvSpPr>
          <p:cNvPr id="3" name="TextBox 2">
            <a:extLst>
              <a:ext uri="{FF2B5EF4-FFF2-40B4-BE49-F238E27FC236}">
                <a16:creationId xmlns:a16="http://schemas.microsoft.com/office/drawing/2014/main" id="{3C7D3EF6-3F7D-9B5C-EE93-4C1C86064FE7}"/>
              </a:ext>
            </a:extLst>
          </p:cNvPr>
          <p:cNvSpPr txBox="1"/>
          <p:nvPr/>
        </p:nvSpPr>
        <p:spPr>
          <a:xfrm>
            <a:off x="3046955" y="4505794"/>
            <a:ext cx="6093912" cy="523220"/>
          </a:xfrm>
          <a:prstGeom prst="rect">
            <a:avLst/>
          </a:prstGeom>
          <a:noFill/>
        </p:spPr>
        <p:txBody>
          <a:bodyPr wrap="square">
            <a:spAutoFit/>
          </a:bodyPr>
          <a:lstStyle/>
          <a:p>
            <a:r>
              <a:rPr lang="en-IN" sz="2800" b="1" dirty="0"/>
              <a:t>Music Store Management System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5B6F905-F2E4-87D6-33C1-6660ECA50622}"/>
              </a:ext>
            </a:extLst>
          </p:cNvPr>
          <p:cNvSpPr txBox="1"/>
          <p:nvPr/>
        </p:nvSpPr>
        <p:spPr>
          <a:xfrm flipH="1">
            <a:off x="178903" y="1898374"/>
            <a:ext cx="11201399" cy="2246769"/>
          </a:xfrm>
          <a:prstGeom prst="rect">
            <a:avLst/>
          </a:prstGeom>
          <a:noFill/>
        </p:spPr>
        <p:txBody>
          <a:bodyPr wrap="square" rtlCol="0">
            <a:spAutoFit/>
          </a:bodyPr>
          <a:lstStyle/>
          <a:p>
            <a:r>
              <a:rPr lang="en-US" sz="2000" dirty="0">
                <a:latin typeface="Arial Black" panose="020B0A04020102020204" pitchFamily="34" charset="0"/>
              </a:rPr>
              <a:t>The Music Store Data Analysis project focuses on </a:t>
            </a:r>
            <a:r>
              <a:rPr lang="en-US" sz="2000" dirty="0" err="1">
                <a:latin typeface="Arial Black" panose="020B0A04020102020204" pitchFamily="34" charset="0"/>
              </a:rPr>
              <a:t>analysing</a:t>
            </a:r>
            <a:r>
              <a:rPr lang="en-US" sz="2000" dirty="0">
                <a:latin typeface="Arial Black" panose="020B0A04020102020204" pitchFamily="34" charset="0"/>
              </a:rPr>
              <a:t> a relational music store database using SQL to solve real-world business problems. It involves exploring customer </a:t>
            </a:r>
            <a:r>
              <a:rPr lang="en-US" sz="2000" dirty="0" err="1">
                <a:latin typeface="Arial Black" panose="020B0A04020102020204" pitchFamily="34" charset="0"/>
              </a:rPr>
              <a:t>behaviour</a:t>
            </a:r>
            <a:r>
              <a:rPr lang="en-US" sz="2000" dirty="0">
                <a:latin typeface="Arial Black" panose="020B0A04020102020204" pitchFamily="34" charset="0"/>
              </a:rPr>
              <a:t> sales performance, and music preferences through structured queries. By applying SQL concepts such as joins, aggregations, subqueries, and window functions, the project transforms raw data into meaningful business insights. This analysis helps support data-driven decision-making and strengthens practical database and analytical skills.</a:t>
            </a:r>
            <a:endParaRPr lang="en-IN" sz="2000" dirty="0">
              <a:latin typeface="Arial Black" panose="020B0A04020102020204" pitchFamily="34" charset="0"/>
            </a:endParaRPr>
          </a:p>
        </p:txBody>
      </p:sp>
      <p:sp>
        <p:nvSpPr>
          <p:cNvPr id="3" name="TextBox 2">
            <a:extLst>
              <a:ext uri="{FF2B5EF4-FFF2-40B4-BE49-F238E27FC236}">
                <a16:creationId xmlns:a16="http://schemas.microsoft.com/office/drawing/2014/main" id="{CC415B7F-BE03-5F43-B091-0F0DD0CFFAAA}"/>
              </a:ext>
            </a:extLst>
          </p:cNvPr>
          <p:cNvSpPr txBox="1"/>
          <p:nvPr/>
        </p:nvSpPr>
        <p:spPr>
          <a:xfrm>
            <a:off x="327992" y="715618"/>
            <a:ext cx="3137397" cy="523220"/>
          </a:xfrm>
          <a:prstGeom prst="rect">
            <a:avLst/>
          </a:prstGeom>
          <a:noFill/>
        </p:spPr>
        <p:txBody>
          <a:bodyPr wrap="none" rtlCol="0">
            <a:spAutoFit/>
          </a:bodyPr>
          <a:lstStyle/>
          <a:p>
            <a:r>
              <a:rPr lang="en-US" sz="2800" dirty="0">
                <a:solidFill>
                  <a:srgbClr val="FF0000"/>
                </a:solidFill>
              </a:rPr>
              <a:t>INTRODUCTION :</a:t>
            </a:r>
            <a:endParaRPr lang="en-IN" sz="2800" dirty="0">
              <a:solidFill>
                <a:srgbClr val="FF0000"/>
              </a:solidFill>
            </a:endParaRPr>
          </a:p>
        </p:txBody>
      </p:sp>
    </p:spTree>
    <p:extLst>
      <p:ext uri="{BB962C8B-B14F-4D97-AF65-F5344CB8AC3E}">
        <p14:creationId xmlns:p14="http://schemas.microsoft.com/office/powerpoint/2010/main" val="39929134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3"/>
          <p:cNvSpPr txBox="1"/>
          <p:nvPr/>
        </p:nvSpPr>
        <p:spPr>
          <a:xfrm>
            <a:off x="842384" y="854766"/>
            <a:ext cx="10507232" cy="4339609"/>
          </a:xfrm>
          <a:prstGeom prst="rect">
            <a:avLst/>
          </a:prstGeom>
          <a:noFill/>
          <a:ln>
            <a:noFill/>
          </a:ln>
        </p:spPr>
        <p:txBody>
          <a:bodyPr spcFirstLastPara="1" wrap="square" lIns="91425" tIns="45700" rIns="91425" bIns="45700" anchor="t" anchorCtr="0">
            <a:spAutoFit/>
          </a:bodyPr>
          <a:lstStyle/>
          <a:p>
            <a:pPr>
              <a:buClr>
                <a:schemeClr val="dk1"/>
              </a:buClr>
              <a:buSzPts val="2400"/>
            </a:pPr>
            <a:endParaRPr lang="en-GB" sz="2800" b="1" i="0" u="none" strike="noStrike" cap="none" dirty="0">
              <a:solidFill>
                <a:schemeClr val="dk1"/>
              </a:solidFill>
              <a:latin typeface="Calibri"/>
              <a:ea typeface="Calibri"/>
              <a:cs typeface="Calibri"/>
              <a:sym typeface="Calibri"/>
            </a:endParaRPr>
          </a:p>
          <a:p>
            <a:pPr lvl="0">
              <a:buClr>
                <a:schemeClr val="dk1"/>
              </a:buClr>
              <a:buSzPts val="2400"/>
            </a:pPr>
            <a:endParaRPr lang="en-GB" sz="2400" b="1" dirty="0">
              <a:solidFill>
                <a:schemeClr val="dk1"/>
              </a:solidFill>
              <a:latin typeface="Calibri" panose="020F0502020204030204"/>
              <a:ea typeface="Calibri" panose="020F0502020204030204"/>
              <a:cs typeface="Calibri" panose="020F0502020204030204"/>
              <a:sym typeface="Calibri" panose="020F0502020204030204"/>
            </a:endParaRPr>
          </a:p>
          <a:p>
            <a:pPr marR="0" lvl="0" algn="l" rtl="0">
              <a:lnSpc>
                <a:spcPct val="100000"/>
              </a:lnSpc>
              <a:spcBef>
                <a:spcPts val="0"/>
              </a:spcBef>
              <a:spcAft>
                <a:spcPts val="0"/>
              </a:spcAft>
              <a:buClr>
                <a:schemeClr val="dk1"/>
              </a:buClr>
              <a:buSzPts val="2400"/>
            </a:pPr>
            <a:r>
              <a:rPr lang="en-GB" sz="3200" b="1" i="0" u="none" strike="noStrike" cap="none" dirty="0">
                <a:solidFill>
                  <a:srgbClr val="FF0000"/>
                </a:solidFill>
                <a:latin typeface="Calibri"/>
                <a:ea typeface="Calibri"/>
                <a:cs typeface="Calibri"/>
                <a:sym typeface="Calibri"/>
              </a:rPr>
              <a:t>BUSINESS SOLVING PROBLEM :</a:t>
            </a:r>
          </a:p>
          <a:p>
            <a:pPr marR="0" lvl="0" algn="l" rtl="0">
              <a:lnSpc>
                <a:spcPct val="100000"/>
              </a:lnSpc>
              <a:spcBef>
                <a:spcPts val="0"/>
              </a:spcBef>
              <a:spcAft>
                <a:spcPts val="0"/>
              </a:spcAft>
              <a:buClr>
                <a:schemeClr val="dk1"/>
              </a:buClr>
              <a:buSzPts val="2400"/>
            </a:pPr>
            <a:endParaRPr lang="en-GB" sz="3200" b="1" dirty="0">
              <a:solidFill>
                <a:srgbClr val="FF0000"/>
              </a:solidFill>
              <a:latin typeface="Calibri"/>
              <a:ea typeface="Calibri"/>
              <a:cs typeface="Calibri"/>
              <a:sym typeface="Calibri"/>
            </a:endParaRPr>
          </a:p>
          <a:p>
            <a:pPr lvl="0">
              <a:buClr>
                <a:schemeClr val="dk1"/>
              </a:buClr>
              <a:buSzPts val="2400"/>
            </a:pPr>
            <a:r>
              <a:rPr lang="en-IN" sz="3200" dirty="0">
                <a:latin typeface="Cooper Black" panose="0208090404030B020404" pitchFamily="18" charset="0"/>
              </a:rPr>
              <a:t>What is the distribution of customers across different purchasing segments, and what marketing strategy should be applied to each segment and increase in revenue?</a:t>
            </a:r>
            <a:endParaRPr lang="en-GB" sz="3200" b="1" i="0" u="none" strike="noStrike" cap="none" dirty="0">
              <a:solidFill>
                <a:srgbClr val="FF0000"/>
              </a:solidFill>
              <a:latin typeface="Cooper Black" panose="0208090404030B020404" pitchFamily="18" charset="0"/>
              <a:ea typeface="Calibri"/>
              <a:cs typeface="Calibri"/>
              <a:sym typeface="Calibri"/>
            </a:endParaRPr>
          </a:p>
          <a:p>
            <a:pPr marR="0" lvl="0" algn="l" rtl="0">
              <a:lnSpc>
                <a:spcPct val="100000"/>
              </a:lnSpc>
              <a:spcBef>
                <a:spcPts val="0"/>
              </a:spcBef>
              <a:spcAft>
                <a:spcPts val="0"/>
              </a:spcAft>
              <a:buClr>
                <a:schemeClr val="dk1"/>
              </a:buClr>
              <a:buSzPts val="2400"/>
            </a:pPr>
            <a:endParaRPr lang="en-GB" sz="3200" b="1" i="0" u="none" strike="noStrike" cap="none" dirty="0">
              <a:solidFill>
                <a:srgbClr val="FF0000"/>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208472" y="1825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a:buNone/>
            </a:pPr>
            <a:r>
              <a:rPr lang="en-IN" b="1" dirty="0">
                <a:solidFill>
                  <a:srgbClr val="FF0000"/>
                </a:solidFill>
              </a:rPr>
              <a:t>Agenda</a:t>
            </a:r>
            <a:endParaRPr b="1" dirty="0">
              <a:solidFill>
                <a:srgbClr val="FF0000"/>
              </a:solidFill>
            </a:endParaRPr>
          </a:p>
        </p:txBody>
      </p:sp>
      <p:sp>
        <p:nvSpPr>
          <p:cNvPr id="111" name="Google Shape;111;p4"/>
          <p:cNvSpPr txBox="1">
            <a:spLocks noGrp="1"/>
          </p:cNvSpPr>
          <p:nvPr>
            <p:ph type="body" idx="1"/>
          </p:nvPr>
        </p:nvSpPr>
        <p:spPr>
          <a:xfrm>
            <a:off x="684880" y="1493134"/>
            <a:ext cx="10515600" cy="4777234"/>
          </a:xfrm>
          <a:prstGeom prst="rect">
            <a:avLst/>
          </a:prstGeom>
          <a:noFill/>
          <a:ln>
            <a:noFill/>
          </a:ln>
        </p:spPr>
        <p:txBody>
          <a:bodyPr spcFirstLastPara="1" wrap="square" lIns="91425" tIns="45700" rIns="91425" bIns="45700" anchor="t" anchorCtr="0">
            <a:normAutofit/>
          </a:bodyPr>
          <a:lstStyle/>
          <a:p>
            <a:pPr marL="457200" lvl="0" indent="-431800" algn="l" rtl="0">
              <a:lnSpc>
                <a:spcPct val="90000"/>
              </a:lnSpc>
              <a:spcBef>
                <a:spcPts val="1000"/>
              </a:spcBef>
              <a:spcAft>
                <a:spcPts val="0"/>
              </a:spcAft>
              <a:buSzPts val="2400"/>
              <a:buChar char="•"/>
            </a:pPr>
            <a:r>
              <a:rPr lang="en-IN" sz="2400" b="1" dirty="0"/>
              <a:t>Objective of the Project</a:t>
            </a:r>
          </a:p>
          <a:p>
            <a:pPr marL="457200" lvl="0" indent="-431800" algn="l" rtl="0">
              <a:lnSpc>
                <a:spcPct val="90000"/>
              </a:lnSpc>
              <a:spcBef>
                <a:spcPts val="1000"/>
              </a:spcBef>
              <a:spcAft>
                <a:spcPts val="0"/>
              </a:spcAft>
              <a:buSzPts val="2400"/>
              <a:buChar char="•"/>
            </a:pPr>
            <a:endParaRPr sz="2400" dirty="0"/>
          </a:p>
          <a:p>
            <a:pPr marL="457200" lvl="0" indent="-431800" algn="l" rtl="0">
              <a:lnSpc>
                <a:spcPct val="90000"/>
              </a:lnSpc>
              <a:spcBef>
                <a:spcPts val="1000"/>
              </a:spcBef>
              <a:spcAft>
                <a:spcPts val="0"/>
              </a:spcAft>
              <a:buSzPts val="2400"/>
              <a:buChar char="•"/>
            </a:pPr>
            <a:r>
              <a:rPr lang="en-IN" sz="2400" b="1" dirty="0"/>
              <a:t>Key analysis questions (use cases)</a:t>
            </a:r>
          </a:p>
          <a:p>
            <a:pPr marL="457200" lvl="0" indent="-431800" algn="l" rtl="0">
              <a:lnSpc>
                <a:spcPct val="90000"/>
              </a:lnSpc>
              <a:spcBef>
                <a:spcPts val="1000"/>
              </a:spcBef>
              <a:spcAft>
                <a:spcPts val="0"/>
              </a:spcAft>
              <a:buSzPts val="2400"/>
              <a:buChar char="•"/>
            </a:pPr>
            <a:endParaRPr sz="2400" dirty="0"/>
          </a:p>
          <a:p>
            <a:pPr marL="457200" lvl="0" indent="-431800" algn="l" rtl="0">
              <a:lnSpc>
                <a:spcPct val="90000"/>
              </a:lnSpc>
              <a:spcBef>
                <a:spcPts val="1000"/>
              </a:spcBef>
              <a:spcAft>
                <a:spcPts val="0"/>
              </a:spcAft>
              <a:buSzPts val="2400"/>
              <a:buChar char="•"/>
            </a:pPr>
            <a:r>
              <a:rPr lang="en-IN" sz="2400" b="1" dirty="0"/>
              <a:t>Conclusion (Key finding overall) </a:t>
            </a:r>
          </a:p>
          <a:p>
            <a:pPr marL="457200" lvl="0" indent="-431800" algn="l" rtl="0">
              <a:lnSpc>
                <a:spcPct val="90000"/>
              </a:lnSpc>
              <a:spcBef>
                <a:spcPts val="1000"/>
              </a:spcBef>
              <a:spcAft>
                <a:spcPts val="0"/>
              </a:spcAft>
              <a:buSzPts val="2400"/>
              <a:buChar char="•"/>
            </a:pPr>
            <a:endParaRPr sz="2400" dirty="0"/>
          </a:p>
          <a:p>
            <a:pPr marL="457200" lvl="0" indent="-431800" algn="l" rtl="0">
              <a:lnSpc>
                <a:spcPct val="90000"/>
              </a:lnSpc>
              <a:spcBef>
                <a:spcPts val="1000"/>
              </a:spcBef>
              <a:spcAft>
                <a:spcPts val="0"/>
              </a:spcAft>
              <a:buSzPts val="2400"/>
              <a:buChar char="•"/>
            </a:pPr>
            <a:r>
              <a:rPr lang="en-IN" sz="2400" b="1" dirty="0"/>
              <a:t>Q&amp;A Slide </a:t>
            </a:r>
          </a:p>
          <a:p>
            <a:pPr marL="457200" lvl="0" indent="-431800" algn="l" rtl="0">
              <a:lnSpc>
                <a:spcPct val="90000"/>
              </a:lnSpc>
              <a:spcBef>
                <a:spcPts val="1000"/>
              </a:spcBef>
              <a:spcAft>
                <a:spcPts val="0"/>
              </a:spcAft>
              <a:buSzPts val="2400"/>
              <a:buChar char="•"/>
            </a:pPr>
            <a:endParaRPr sz="2400" dirty="0"/>
          </a:p>
          <a:p>
            <a:pPr marL="457200" lvl="0" indent="-431800" algn="l" rtl="0">
              <a:lnSpc>
                <a:spcPct val="90000"/>
              </a:lnSpc>
              <a:spcBef>
                <a:spcPts val="1000"/>
              </a:spcBef>
              <a:spcAft>
                <a:spcPts val="0"/>
              </a:spcAft>
              <a:buSzPts val="2400"/>
              <a:buChar char="•"/>
            </a:pPr>
            <a:r>
              <a:rPr lang="en-IN" sz="2400" b="1" dirty="0"/>
              <a:t>Your Experience/Challenges working </a:t>
            </a: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5FF9B54-63FE-ED4B-6521-53B2A86046E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9A91292-5275-F309-71A5-7DFB0A0C1CA0}"/>
              </a:ext>
            </a:extLst>
          </p:cNvPr>
          <p:cNvSpPr txBox="1"/>
          <p:nvPr/>
        </p:nvSpPr>
        <p:spPr>
          <a:xfrm>
            <a:off x="198783" y="626166"/>
            <a:ext cx="11891617" cy="5570756"/>
          </a:xfrm>
          <a:prstGeom prst="rect">
            <a:avLst/>
          </a:prstGeom>
          <a:noFill/>
        </p:spPr>
        <p:txBody>
          <a:bodyPr wrap="square" rtlCol="0">
            <a:spAutoFit/>
          </a:bodyPr>
          <a:lstStyle/>
          <a:p>
            <a:pPr marL="457200" lvl="0" indent="-457200">
              <a:buFont typeface="Arial" panose="020B0604020202020204" pitchFamily="34" charset="0"/>
              <a:buChar char="•"/>
            </a:pPr>
            <a:endParaRPr lang="en-IN" sz="2000" dirty="0">
              <a:latin typeface="Arial Black" panose="020B0A04020102020204" pitchFamily="34" charset="0"/>
            </a:endParaRPr>
          </a:p>
          <a:p>
            <a:pPr marL="457200" lvl="0" indent="-457200">
              <a:buFont typeface="Arial" panose="020B0604020202020204" pitchFamily="34" charset="0"/>
              <a:buChar char="•"/>
            </a:pPr>
            <a:endParaRPr lang="en-IN" sz="2000" dirty="0">
              <a:latin typeface="Arial Black" panose="020B0A04020102020204" pitchFamily="34" charset="0"/>
            </a:endParaRPr>
          </a:p>
          <a:p>
            <a:pPr marL="457200" lvl="0" indent="-457200">
              <a:buFont typeface="Arial" panose="020B0604020202020204" pitchFamily="34" charset="0"/>
              <a:buChar char="•"/>
            </a:pPr>
            <a:r>
              <a:rPr lang="en-IN" sz="2000" dirty="0" err="1">
                <a:latin typeface="Arial Black" panose="020B0A04020102020204" pitchFamily="34" charset="0"/>
              </a:rPr>
              <a:t>Analyze</a:t>
            </a:r>
            <a:r>
              <a:rPr lang="en-IN" sz="2000" dirty="0">
                <a:latin typeface="Arial Black" panose="020B0A04020102020204" pitchFamily="34" charset="0"/>
              </a:rPr>
              <a:t> customer purchasing </a:t>
            </a:r>
            <a:r>
              <a:rPr lang="en-IN" sz="2000" dirty="0" err="1">
                <a:latin typeface="Arial Black" panose="020B0A04020102020204" pitchFamily="34" charset="0"/>
              </a:rPr>
              <a:t>behavior</a:t>
            </a:r>
            <a:r>
              <a:rPr lang="en-IN" sz="2000" dirty="0">
                <a:latin typeface="Arial Black" panose="020B0A04020102020204" pitchFamily="34" charset="0"/>
              </a:rPr>
              <a:t>.</a:t>
            </a:r>
          </a:p>
          <a:p>
            <a:pPr marL="457200" lvl="0" indent="-457200">
              <a:buFont typeface="Arial" panose="020B0604020202020204" pitchFamily="34" charset="0"/>
              <a:buChar char="•"/>
            </a:pPr>
            <a:endParaRPr lang="en-IN" sz="2000" dirty="0">
              <a:latin typeface="Arial Black" panose="020B0A04020102020204" pitchFamily="34" charset="0"/>
            </a:endParaRPr>
          </a:p>
          <a:p>
            <a:pPr marL="457200" lvl="0" indent="-457200">
              <a:buFont typeface="Arial" panose="020B0604020202020204" pitchFamily="34" charset="0"/>
              <a:buChar char="•"/>
            </a:pPr>
            <a:r>
              <a:rPr lang="en-IN" sz="2000" dirty="0">
                <a:latin typeface="Arial Black" panose="020B0A04020102020204" pitchFamily="34" charset="0"/>
              </a:rPr>
              <a:t>Identify high-value customers using Customer Lifetime Value (CLV). </a:t>
            </a:r>
          </a:p>
          <a:p>
            <a:pPr marL="457200" lvl="0" indent="-457200">
              <a:buFont typeface="Arial" panose="020B0604020202020204" pitchFamily="34" charset="0"/>
              <a:buChar char="•"/>
            </a:pPr>
            <a:endParaRPr lang="en-IN" sz="2000" dirty="0">
              <a:latin typeface="Arial Black" panose="020B0A04020102020204" pitchFamily="34" charset="0"/>
            </a:endParaRPr>
          </a:p>
          <a:p>
            <a:pPr marL="457200" lvl="0" indent="-457200">
              <a:buFont typeface="Arial" panose="020B0604020202020204" pitchFamily="34" charset="0"/>
              <a:buChar char="•"/>
            </a:pPr>
            <a:r>
              <a:rPr lang="en-IN" sz="2000" dirty="0">
                <a:latin typeface="Arial Black" panose="020B0A04020102020204" pitchFamily="34" charset="0"/>
              </a:rPr>
              <a:t>Detect customers at risk of churn. </a:t>
            </a:r>
          </a:p>
          <a:p>
            <a:pPr marL="457200" lvl="0" indent="-457200">
              <a:buFont typeface="Arial" panose="020B0604020202020204" pitchFamily="34" charset="0"/>
              <a:buChar char="•"/>
            </a:pPr>
            <a:endParaRPr lang="en-IN" sz="2000" dirty="0">
              <a:latin typeface="Arial Black" panose="020B0A04020102020204" pitchFamily="34" charset="0"/>
            </a:endParaRPr>
          </a:p>
          <a:p>
            <a:pPr marL="457200" lvl="0" indent="-457200">
              <a:buFont typeface="Arial" panose="020B0604020202020204" pitchFamily="34" charset="0"/>
              <a:buChar char="•"/>
            </a:pPr>
            <a:r>
              <a:rPr lang="en-IN" sz="2000" dirty="0">
                <a:latin typeface="Arial Black" panose="020B0A04020102020204" pitchFamily="34" charset="0"/>
              </a:rPr>
              <a:t>Identify countries suitable for business expansion.</a:t>
            </a:r>
          </a:p>
          <a:p>
            <a:pPr marL="457200" lvl="0" indent="-457200">
              <a:buFont typeface="Arial" panose="020B0604020202020204" pitchFamily="34" charset="0"/>
              <a:buChar char="•"/>
            </a:pPr>
            <a:r>
              <a:rPr lang="en-IN" sz="2000" dirty="0">
                <a:latin typeface="Arial Black" panose="020B0A04020102020204" pitchFamily="34" charset="0"/>
              </a:rPr>
              <a:t> </a:t>
            </a:r>
          </a:p>
          <a:p>
            <a:pPr marL="457200" lvl="0" indent="-457200">
              <a:buFont typeface="Arial" panose="020B0604020202020204" pitchFamily="34" charset="0"/>
              <a:buChar char="•"/>
            </a:pPr>
            <a:r>
              <a:rPr lang="en-IN" sz="2000" dirty="0" err="1">
                <a:latin typeface="Arial Black" panose="020B0A04020102020204" pitchFamily="34" charset="0"/>
              </a:rPr>
              <a:t>Analyze</a:t>
            </a:r>
            <a:r>
              <a:rPr lang="en-IN" sz="2000" dirty="0">
                <a:latin typeface="Arial Black" panose="020B0A04020102020204" pitchFamily="34" charset="0"/>
              </a:rPr>
              <a:t> product (track, album, and genre) performance.</a:t>
            </a:r>
          </a:p>
          <a:p>
            <a:pPr marL="457200" lvl="0" indent="-457200">
              <a:buFont typeface="Arial" panose="020B0604020202020204" pitchFamily="34" charset="0"/>
              <a:buChar char="•"/>
            </a:pPr>
            <a:r>
              <a:rPr lang="en-IN" sz="2000" dirty="0">
                <a:latin typeface="Arial Black" panose="020B0A04020102020204" pitchFamily="34" charset="0"/>
              </a:rPr>
              <a:t> </a:t>
            </a:r>
          </a:p>
          <a:p>
            <a:pPr marL="457200" lvl="0" indent="-457200">
              <a:buFont typeface="Arial" panose="020B0604020202020204" pitchFamily="34" charset="0"/>
              <a:buChar char="•"/>
            </a:pPr>
            <a:r>
              <a:rPr lang="en-IN" sz="2000" dirty="0">
                <a:latin typeface="Arial Black" panose="020B0A04020102020204" pitchFamily="34" charset="0"/>
              </a:rPr>
              <a:t>Evaluate playlist effectiveness. </a:t>
            </a:r>
          </a:p>
          <a:p>
            <a:pPr marL="457200" lvl="0" indent="-457200">
              <a:buFont typeface="Arial" panose="020B0604020202020204" pitchFamily="34" charset="0"/>
              <a:buChar char="•"/>
            </a:pPr>
            <a:endParaRPr lang="en-IN" sz="2000" dirty="0">
              <a:latin typeface="Arial Black" panose="020B0A04020102020204" pitchFamily="34" charset="0"/>
            </a:endParaRPr>
          </a:p>
          <a:p>
            <a:pPr marL="457200" lvl="0" indent="-457200">
              <a:buFont typeface="Arial" panose="020B0604020202020204" pitchFamily="34" charset="0"/>
              <a:buChar char="•"/>
            </a:pPr>
            <a:r>
              <a:rPr lang="en-IN" sz="2000" dirty="0">
                <a:latin typeface="Arial Black" panose="020B0A04020102020204" pitchFamily="34" charset="0"/>
              </a:rPr>
              <a:t>Identify revenue concentration using Pareto Analysis.</a:t>
            </a:r>
          </a:p>
          <a:p>
            <a:pPr marL="457200" lvl="0" indent="-457200">
              <a:buFont typeface="Arial" panose="020B0604020202020204" pitchFamily="34" charset="0"/>
              <a:buChar char="•"/>
            </a:pPr>
            <a:r>
              <a:rPr lang="en-IN" sz="2000" dirty="0">
                <a:latin typeface="Arial Black" panose="020B0A04020102020204" pitchFamily="34" charset="0"/>
              </a:rPr>
              <a:t> </a:t>
            </a:r>
          </a:p>
          <a:p>
            <a:pPr marL="457200" lvl="0" indent="-457200">
              <a:buFont typeface="Arial" panose="020B0604020202020204" pitchFamily="34" charset="0"/>
              <a:buChar char="•"/>
            </a:pPr>
            <a:r>
              <a:rPr lang="en-IN" sz="2000" dirty="0">
                <a:latin typeface="Arial Black" panose="020B0A04020102020204" pitchFamily="34" charset="0"/>
              </a:rPr>
              <a:t>Assess artist performance and business dependency.</a:t>
            </a:r>
          </a:p>
          <a:p>
            <a:pPr marL="285750" lvl="0" indent="-285750">
              <a:buFont typeface="Arial" panose="020B0604020202020204" pitchFamily="34" charset="0"/>
              <a:buChar char="•"/>
            </a:pPr>
            <a:endParaRPr lang="en-IN" sz="1600" dirty="0"/>
          </a:p>
        </p:txBody>
      </p:sp>
      <p:sp>
        <p:nvSpPr>
          <p:cNvPr id="13" name="TextBox 12">
            <a:extLst>
              <a:ext uri="{FF2B5EF4-FFF2-40B4-BE49-F238E27FC236}">
                <a16:creationId xmlns:a16="http://schemas.microsoft.com/office/drawing/2014/main" id="{212C3BA6-0ADC-7251-D60D-5F8C10C980BE}"/>
              </a:ext>
            </a:extLst>
          </p:cNvPr>
          <p:cNvSpPr txBox="1"/>
          <p:nvPr/>
        </p:nvSpPr>
        <p:spPr>
          <a:xfrm>
            <a:off x="198783" y="0"/>
            <a:ext cx="5592417" cy="830997"/>
          </a:xfrm>
          <a:prstGeom prst="rect">
            <a:avLst/>
          </a:prstGeom>
          <a:noFill/>
        </p:spPr>
        <p:txBody>
          <a:bodyPr wrap="square" rtlCol="0">
            <a:spAutoFit/>
          </a:bodyPr>
          <a:lstStyle/>
          <a:p>
            <a:endParaRPr lang="en-GB" sz="2400" b="1" dirty="0">
              <a:solidFill>
                <a:srgbClr val="FF0000"/>
              </a:solidFill>
            </a:endParaRPr>
          </a:p>
          <a:p>
            <a:r>
              <a:rPr lang="en-GB" sz="2400" b="1" dirty="0">
                <a:solidFill>
                  <a:srgbClr val="FF0000"/>
                </a:solidFill>
              </a:rPr>
              <a:t>Objective of the Project:</a:t>
            </a:r>
          </a:p>
        </p:txBody>
      </p:sp>
    </p:spTree>
    <p:extLst>
      <p:ext uri="{BB962C8B-B14F-4D97-AF65-F5344CB8AC3E}">
        <p14:creationId xmlns:p14="http://schemas.microsoft.com/office/powerpoint/2010/main" val="10127270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D6CAD5FA-6D89-C179-E85E-A4DCE5FCCB3F}"/>
            </a:ext>
          </a:extLst>
        </p:cNvPr>
        <p:cNvGrpSpPr/>
        <p:nvPr/>
      </p:nvGrpSpPr>
      <p:grpSpPr>
        <a:xfrm>
          <a:off x="0" y="0"/>
          <a:ext cx="0" cy="0"/>
          <a:chOff x="0" y="0"/>
          <a:chExt cx="0" cy="0"/>
        </a:xfrm>
      </p:grpSpPr>
      <p:sp>
        <p:nvSpPr>
          <p:cNvPr id="6" name="Rectangle 3">
            <a:extLst>
              <a:ext uri="{FF2B5EF4-FFF2-40B4-BE49-F238E27FC236}">
                <a16:creationId xmlns:a16="http://schemas.microsoft.com/office/drawing/2014/main" id="{2C5F2A91-514D-AEF3-9C71-95D20C463DC6}"/>
              </a:ext>
            </a:extLst>
          </p:cNvPr>
          <p:cNvSpPr>
            <a:spLocks noChangeArrowheads="1"/>
          </p:cNvSpPr>
          <p:nvPr/>
        </p:nvSpPr>
        <p:spPr bwMode="auto">
          <a:xfrm rot="10800000" flipV="1">
            <a:off x="228600" y="1798568"/>
            <a:ext cx="10942982"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lvl="0" indent="-285750" eaLnBrk="0" fontAlgn="base" hangingPunct="0">
              <a:spcBef>
                <a:spcPct val="0"/>
              </a:spcBef>
              <a:spcAft>
                <a:spcPct val="0"/>
              </a:spcAft>
              <a:buClrTx/>
              <a:buFont typeface="Arial" panose="020B0604020202020204" pitchFamily="34" charset="0"/>
              <a:buChar char="•"/>
            </a:pPr>
            <a:r>
              <a:rPr lang="en-IN" sz="2400" dirty="0">
                <a:latin typeface="Arial Black" panose="020B0A04020102020204" pitchFamily="34" charset="0"/>
              </a:rPr>
              <a:t>1. Which Genres Are Losing Popularity?</a:t>
            </a:r>
          </a:p>
          <a:p>
            <a:pPr marL="285750" lvl="0" indent="-285750" eaLnBrk="0" fontAlgn="base" hangingPunct="0">
              <a:spcBef>
                <a:spcPct val="0"/>
              </a:spcBef>
              <a:spcAft>
                <a:spcPct val="0"/>
              </a:spcAft>
              <a:buClrTx/>
              <a:buFont typeface="Arial" panose="020B0604020202020204" pitchFamily="34" charset="0"/>
              <a:buChar char="•"/>
            </a:pPr>
            <a:endParaRPr kumimoji="0" lang="en-IN" altLang="en-US" sz="2400" b="1" i="0" u="none" strike="noStrike" cap="none" normalizeH="0" baseline="0" dirty="0">
              <a:ln>
                <a:noFill/>
              </a:ln>
              <a:solidFill>
                <a:schemeClr val="tx1"/>
              </a:solidFill>
              <a:effectLst/>
              <a:latin typeface="Arial Black" panose="020B0A04020102020204" pitchFamily="34" charset="0"/>
            </a:endParaRPr>
          </a:p>
          <a:p>
            <a:pPr marL="285750" lvl="0" indent="-285750" eaLnBrk="0" fontAlgn="base" hangingPunct="0">
              <a:spcBef>
                <a:spcPct val="0"/>
              </a:spcBef>
              <a:spcAft>
                <a:spcPct val="0"/>
              </a:spcAft>
              <a:buClrTx/>
              <a:buFont typeface="Arial" panose="020B0604020202020204" pitchFamily="34" charset="0"/>
              <a:buChar char="•"/>
            </a:pPr>
            <a:r>
              <a:rPr lang="en-IN" sz="2400" dirty="0">
                <a:latin typeface="Arial Black" panose="020B0A04020102020204" pitchFamily="34" charset="0"/>
              </a:rPr>
              <a:t>2. Which Artists Are No Longer Generating Revenue?</a:t>
            </a:r>
          </a:p>
          <a:p>
            <a:pPr lvl="0" eaLnBrk="0" fontAlgn="base" hangingPunct="0">
              <a:spcBef>
                <a:spcPct val="0"/>
              </a:spcBef>
              <a:spcAft>
                <a:spcPct val="0"/>
              </a:spcAft>
              <a:buClrTx/>
            </a:pPr>
            <a:endParaRPr lang="en-IN" altLang="en-US" sz="2400" b="1" dirty="0">
              <a:solidFill>
                <a:schemeClr val="tx1"/>
              </a:solidFill>
              <a:latin typeface="Arial Black" panose="020B0A04020102020204" pitchFamily="34" charset="0"/>
            </a:endParaRPr>
          </a:p>
          <a:p>
            <a:pPr marL="285750" lvl="0" indent="-285750" eaLnBrk="0" fontAlgn="base" hangingPunct="0">
              <a:spcBef>
                <a:spcPct val="0"/>
              </a:spcBef>
              <a:spcAft>
                <a:spcPct val="0"/>
              </a:spcAft>
              <a:buClrTx/>
              <a:buFont typeface="Arial" panose="020B0604020202020204" pitchFamily="34" charset="0"/>
              <a:buChar char="•"/>
            </a:pPr>
            <a:r>
              <a:rPr lang="en-IN" sz="2400" dirty="0">
                <a:latin typeface="Arial Black" panose="020B0A04020102020204" pitchFamily="34" charset="0"/>
              </a:rPr>
              <a:t>3. Which Countries Have the Lowest Purchases?</a:t>
            </a:r>
          </a:p>
          <a:p>
            <a:pPr marL="285750" lvl="0" indent="-285750" eaLnBrk="0" fontAlgn="base" hangingPunct="0">
              <a:spcBef>
                <a:spcPct val="0"/>
              </a:spcBef>
              <a:spcAft>
                <a:spcPct val="0"/>
              </a:spcAft>
              <a:buClrTx/>
              <a:buFont typeface="Arial" panose="020B0604020202020204" pitchFamily="34" charset="0"/>
              <a:buChar char="•"/>
            </a:pPr>
            <a:endParaRPr kumimoji="0" lang="en-IN" altLang="en-US" sz="2400" b="1" i="0" u="none" strike="noStrike" cap="none" normalizeH="0" baseline="0" dirty="0">
              <a:ln>
                <a:noFill/>
              </a:ln>
              <a:solidFill>
                <a:schemeClr val="tx1"/>
              </a:solidFill>
              <a:effectLst/>
              <a:latin typeface="Arial Black" panose="020B0A04020102020204" pitchFamily="34" charset="0"/>
            </a:endParaRPr>
          </a:p>
          <a:p>
            <a:pPr marL="285750" lvl="0" indent="-285750" eaLnBrk="0" fontAlgn="base" hangingPunct="0">
              <a:spcBef>
                <a:spcPct val="0"/>
              </a:spcBef>
              <a:spcAft>
                <a:spcPct val="0"/>
              </a:spcAft>
              <a:buClrTx/>
              <a:buFont typeface="Arial" panose="020B0604020202020204" pitchFamily="34" charset="0"/>
              <a:buChar char="•"/>
            </a:pPr>
            <a:r>
              <a:rPr lang="en-IN" sz="2400" dirty="0">
                <a:latin typeface="Arial Black" panose="020B0A04020102020204" pitchFamily="34" charset="0"/>
              </a:rPr>
              <a:t>4. Which Albums Have Become Dead Inventory?</a:t>
            </a:r>
          </a:p>
          <a:p>
            <a:pPr marL="285750" lvl="0" indent="-285750" eaLnBrk="0" fontAlgn="base" hangingPunct="0">
              <a:spcBef>
                <a:spcPct val="0"/>
              </a:spcBef>
              <a:spcAft>
                <a:spcPct val="0"/>
              </a:spcAft>
              <a:buClrTx/>
              <a:buFont typeface="Arial" panose="020B0604020202020204" pitchFamily="34" charset="0"/>
              <a:buChar char="•"/>
            </a:pPr>
            <a:endParaRPr kumimoji="0" lang="en-IN" altLang="en-US" sz="2400" b="1" i="0" u="none" strike="noStrike" cap="none" normalizeH="0" baseline="0" dirty="0">
              <a:ln>
                <a:noFill/>
              </a:ln>
              <a:solidFill>
                <a:schemeClr val="tx1"/>
              </a:solidFill>
              <a:effectLst/>
              <a:latin typeface="Arial Black" panose="020B0A04020102020204" pitchFamily="34" charset="0"/>
            </a:endParaRPr>
          </a:p>
          <a:p>
            <a:pPr marL="285750" lvl="0" indent="-285750" eaLnBrk="0" fontAlgn="base" hangingPunct="0">
              <a:spcBef>
                <a:spcPct val="0"/>
              </a:spcBef>
              <a:spcAft>
                <a:spcPct val="0"/>
              </a:spcAft>
              <a:buClrTx/>
              <a:buFont typeface="Arial" panose="020B0604020202020204" pitchFamily="34" charset="0"/>
              <a:buChar char="•"/>
            </a:pPr>
            <a:r>
              <a:rPr lang="en-IN" sz="2400" dirty="0">
                <a:latin typeface="Arial Black" panose="020B0A04020102020204" pitchFamily="34" charset="0"/>
              </a:rPr>
              <a:t>5. Which Artists Should Receive New Contracts?</a:t>
            </a:r>
            <a:endParaRPr kumimoji="0" lang="en-US" altLang="en-US" sz="2400" b="1" i="0" u="none" strike="noStrike" cap="none" normalizeH="0" baseline="0" dirty="0">
              <a:ln>
                <a:noFill/>
              </a:ln>
              <a:solidFill>
                <a:schemeClr val="tx1"/>
              </a:solidFill>
              <a:effectLst/>
              <a:latin typeface="Arial Black" panose="020B0A04020102020204" pitchFamily="34" charset="0"/>
            </a:endParaRPr>
          </a:p>
        </p:txBody>
      </p:sp>
      <p:sp>
        <p:nvSpPr>
          <p:cNvPr id="7" name="TextBox 6">
            <a:extLst>
              <a:ext uri="{FF2B5EF4-FFF2-40B4-BE49-F238E27FC236}">
                <a16:creationId xmlns:a16="http://schemas.microsoft.com/office/drawing/2014/main" id="{BA6AB902-C476-6360-DF18-BB79BF212655}"/>
              </a:ext>
            </a:extLst>
          </p:cNvPr>
          <p:cNvSpPr txBox="1"/>
          <p:nvPr/>
        </p:nvSpPr>
        <p:spPr>
          <a:xfrm>
            <a:off x="228600" y="406400"/>
            <a:ext cx="4826000" cy="523220"/>
          </a:xfrm>
          <a:prstGeom prst="rect">
            <a:avLst/>
          </a:prstGeom>
          <a:noFill/>
        </p:spPr>
        <p:txBody>
          <a:bodyPr wrap="square" rtlCol="0">
            <a:spAutoFit/>
          </a:bodyPr>
          <a:lstStyle/>
          <a:p>
            <a:r>
              <a:rPr lang="en-GB" sz="2800" b="1" dirty="0">
                <a:solidFill>
                  <a:srgbClr val="FF0000"/>
                </a:solidFill>
              </a:rPr>
              <a:t>Key Analysis Questions:</a:t>
            </a:r>
            <a:endParaRPr lang="en-IN" sz="2800" b="1" dirty="0">
              <a:solidFill>
                <a:srgbClr val="FF0000"/>
              </a:solidFill>
            </a:endParaRPr>
          </a:p>
        </p:txBody>
      </p:sp>
    </p:spTree>
    <p:extLst>
      <p:ext uri="{BB962C8B-B14F-4D97-AF65-F5344CB8AC3E}">
        <p14:creationId xmlns:p14="http://schemas.microsoft.com/office/powerpoint/2010/main" val="919805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882B12ED-5559-2C2D-6186-F48E36CB44AF}"/>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B0568826-3C01-D64D-014C-41C89F18C702}"/>
              </a:ext>
            </a:extLst>
          </p:cNvPr>
          <p:cNvSpPr txBox="1"/>
          <p:nvPr/>
        </p:nvSpPr>
        <p:spPr>
          <a:xfrm rot="10800000" flipV="1">
            <a:off x="406400" y="172587"/>
            <a:ext cx="2933700" cy="400110"/>
          </a:xfrm>
          <a:prstGeom prst="rect">
            <a:avLst/>
          </a:prstGeom>
          <a:noFill/>
        </p:spPr>
        <p:txBody>
          <a:bodyPr wrap="square" rtlCol="0">
            <a:spAutoFit/>
          </a:bodyPr>
          <a:lstStyle/>
          <a:p>
            <a:r>
              <a:rPr lang="en-GB" sz="2000" b="1" dirty="0">
                <a:solidFill>
                  <a:srgbClr val="FF0000"/>
                </a:solidFill>
              </a:rPr>
              <a:t>Schema Diagram : </a:t>
            </a:r>
            <a:endParaRPr lang="en-IN" sz="2000" b="1" dirty="0">
              <a:solidFill>
                <a:srgbClr val="FF0000"/>
              </a:solidFill>
            </a:endParaRPr>
          </a:p>
        </p:txBody>
      </p:sp>
      <p:pic>
        <p:nvPicPr>
          <p:cNvPr id="3" name="Picture 2">
            <a:extLst>
              <a:ext uri="{FF2B5EF4-FFF2-40B4-BE49-F238E27FC236}">
                <a16:creationId xmlns:a16="http://schemas.microsoft.com/office/drawing/2014/main" id="{0254F877-B097-384D-E650-16976CB42FFC}"/>
              </a:ext>
            </a:extLst>
          </p:cNvPr>
          <p:cNvPicPr>
            <a:picLocks noChangeAspect="1"/>
          </p:cNvPicPr>
          <p:nvPr/>
        </p:nvPicPr>
        <p:blipFill>
          <a:blip r:embed="rId3"/>
          <a:stretch>
            <a:fillRect/>
          </a:stretch>
        </p:blipFill>
        <p:spPr>
          <a:xfrm>
            <a:off x="2504661" y="994320"/>
            <a:ext cx="6917635" cy="5018854"/>
          </a:xfrm>
          <a:prstGeom prst="rect">
            <a:avLst/>
          </a:prstGeom>
        </p:spPr>
      </p:pic>
    </p:spTree>
    <p:extLst>
      <p:ext uri="{BB962C8B-B14F-4D97-AF65-F5344CB8AC3E}">
        <p14:creationId xmlns:p14="http://schemas.microsoft.com/office/powerpoint/2010/main" val="37185602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3CF9812-8975-B461-CF69-555CF567B2A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A5AB2B2-E776-CE3C-CA76-79F82D41707D}"/>
              </a:ext>
            </a:extLst>
          </p:cNvPr>
          <p:cNvSpPr txBox="1"/>
          <p:nvPr/>
        </p:nvSpPr>
        <p:spPr>
          <a:xfrm>
            <a:off x="1978406" y="246945"/>
            <a:ext cx="9173297" cy="461665"/>
          </a:xfrm>
          <a:prstGeom prst="rect">
            <a:avLst/>
          </a:prstGeom>
          <a:noFill/>
        </p:spPr>
        <p:txBody>
          <a:bodyPr wrap="square">
            <a:spAutoFit/>
          </a:bodyPr>
          <a:lstStyle/>
          <a:p>
            <a:pPr marL="285750" lvl="0" indent="-285750" eaLnBrk="0" fontAlgn="base" hangingPunct="0">
              <a:spcBef>
                <a:spcPct val="0"/>
              </a:spcBef>
              <a:spcAft>
                <a:spcPct val="0"/>
              </a:spcAft>
              <a:buClrTx/>
              <a:buFont typeface="Arial" panose="020B0604020202020204" pitchFamily="34" charset="0"/>
              <a:buChar char="•"/>
            </a:pPr>
            <a:r>
              <a:rPr lang="en-IN" sz="2400">
                <a:latin typeface="Arial Black" panose="020B0A04020102020204" pitchFamily="34" charset="0"/>
              </a:rPr>
              <a:t>1. Which Genres Are Losing Popularity?</a:t>
            </a:r>
            <a:endParaRPr lang="en-IN" sz="2400" dirty="0">
              <a:latin typeface="Arial Black" panose="020B0A04020102020204" pitchFamily="34" charset="0"/>
            </a:endParaRPr>
          </a:p>
        </p:txBody>
      </p:sp>
      <p:sp>
        <p:nvSpPr>
          <p:cNvPr id="8" name="TextBox 7">
            <a:extLst>
              <a:ext uri="{FF2B5EF4-FFF2-40B4-BE49-F238E27FC236}">
                <a16:creationId xmlns:a16="http://schemas.microsoft.com/office/drawing/2014/main" id="{3B8664DD-0F31-F803-CD47-A9E8202C3372}"/>
              </a:ext>
            </a:extLst>
          </p:cNvPr>
          <p:cNvSpPr txBox="1"/>
          <p:nvPr/>
        </p:nvSpPr>
        <p:spPr>
          <a:xfrm>
            <a:off x="1392169" y="1167638"/>
            <a:ext cx="2304789" cy="369332"/>
          </a:xfrm>
          <a:prstGeom prst="rect">
            <a:avLst/>
          </a:prstGeom>
          <a:noFill/>
        </p:spPr>
        <p:txBody>
          <a:bodyPr wrap="square" rtlCol="0">
            <a:spAutoFit/>
          </a:bodyPr>
          <a:lstStyle/>
          <a:p>
            <a:r>
              <a:rPr lang="en-GB" sz="1800" b="1" dirty="0">
                <a:solidFill>
                  <a:srgbClr val="00B050"/>
                </a:solidFill>
              </a:rPr>
              <a:t>Query :</a:t>
            </a:r>
            <a:endParaRPr lang="en-IN" sz="1800" b="1" dirty="0">
              <a:solidFill>
                <a:srgbClr val="00B050"/>
              </a:solidFill>
            </a:endParaRPr>
          </a:p>
        </p:txBody>
      </p:sp>
      <p:sp>
        <p:nvSpPr>
          <p:cNvPr id="9" name="TextBox 8">
            <a:extLst>
              <a:ext uri="{FF2B5EF4-FFF2-40B4-BE49-F238E27FC236}">
                <a16:creationId xmlns:a16="http://schemas.microsoft.com/office/drawing/2014/main" id="{FACB2A73-A2A2-F18F-FDA8-7568C9ACE18F}"/>
              </a:ext>
            </a:extLst>
          </p:cNvPr>
          <p:cNvSpPr txBox="1"/>
          <p:nvPr/>
        </p:nvSpPr>
        <p:spPr>
          <a:xfrm>
            <a:off x="6814855" y="1167638"/>
            <a:ext cx="2617940" cy="369332"/>
          </a:xfrm>
          <a:prstGeom prst="rect">
            <a:avLst/>
          </a:prstGeom>
          <a:noFill/>
        </p:spPr>
        <p:txBody>
          <a:bodyPr wrap="square" rtlCol="0">
            <a:spAutoFit/>
          </a:bodyPr>
          <a:lstStyle/>
          <a:p>
            <a:r>
              <a:rPr lang="en-GB" sz="1800" b="1" dirty="0">
                <a:solidFill>
                  <a:srgbClr val="00B050"/>
                </a:solidFill>
              </a:rPr>
              <a:t>Output :</a:t>
            </a:r>
            <a:endParaRPr lang="en-IN" sz="1800" b="1" dirty="0">
              <a:solidFill>
                <a:srgbClr val="00B050"/>
              </a:solidFill>
            </a:endParaRPr>
          </a:p>
        </p:txBody>
      </p:sp>
      <p:pic>
        <p:nvPicPr>
          <p:cNvPr id="3" name="Picture 2">
            <a:extLst>
              <a:ext uri="{FF2B5EF4-FFF2-40B4-BE49-F238E27FC236}">
                <a16:creationId xmlns:a16="http://schemas.microsoft.com/office/drawing/2014/main" id="{446E35F5-EB21-4715-BF32-B90E43827383}"/>
              </a:ext>
            </a:extLst>
          </p:cNvPr>
          <p:cNvPicPr>
            <a:picLocks noChangeAspect="1"/>
          </p:cNvPicPr>
          <p:nvPr/>
        </p:nvPicPr>
        <p:blipFill>
          <a:blip r:embed="rId3"/>
          <a:stretch>
            <a:fillRect/>
          </a:stretch>
        </p:blipFill>
        <p:spPr>
          <a:xfrm>
            <a:off x="7054918" y="1938687"/>
            <a:ext cx="3190875" cy="2543175"/>
          </a:xfrm>
          <a:prstGeom prst="rect">
            <a:avLst/>
          </a:prstGeom>
        </p:spPr>
      </p:pic>
      <p:pic>
        <p:nvPicPr>
          <p:cNvPr id="12" name="Picture 11">
            <a:extLst>
              <a:ext uri="{FF2B5EF4-FFF2-40B4-BE49-F238E27FC236}">
                <a16:creationId xmlns:a16="http://schemas.microsoft.com/office/drawing/2014/main" id="{F37D5FD6-ABDA-2EAA-8E4B-523DF7931E0E}"/>
              </a:ext>
            </a:extLst>
          </p:cNvPr>
          <p:cNvPicPr>
            <a:picLocks noChangeAspect="1"/>
          </p:cNvPicPr>
          <p:nvPr/>
        </p:nvPicPr>
        <p:blipFill>
          <a:blip r:embed="rId4"/>
          <a:stretch>
            <a:fillRect/>
          </a:stretch>
        </p:blipFill>
        <p:spPr>
          <a:xfrm>
            <a:off x="1392169" y="1676469"/>
            <a:ext cx="3314987" cy="2232853"/>
          </a:xfrm>
          <a:prstGeom prst="rect">
            <a:avLst/>
          </a:prstGeom>
        </p:spPr>
      </p:pic>
    </p:spTree>
    <p:extLst>
      <p:ext uri="{BB962C8B-B14F-4D97-AF65-F5344CB8AC3E}">
        <p14:creationId xmlns:p14="http://schemas.microsoft.com/office/powerpoint/2010/main" val="13452865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9075848-A64A-FA09-EBC5-7D8C21FA8A86}"/>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DE5098C6-3DE2-0684-CF86-D3CAFDA1152B}"/>
              </a:ext>
            </a:extLst>
          </p:cNvPr>
          <p:cNvSpPr txBox="1"/>
          <p:nvPr/>
        </p:nvSpPr>
        <p:spPr>
          <a:xfrm>
            <a:off x="1392169" y="1167638"/>
            <a:ext cx="2304789" cy="369332"/>
          </a:xfrm>
          <a:prstGeom prst="rect">
            <a:avLst/>
          </a:prstGeom>
          <a:noFill/>
        </p:spPr>
        <p:txBody>
          <a:bodyPr wrap="square" rtlCol="0">
            <a:spAutoFit/>
          </a:bodyPr>
          <a:lstStyle/>
          <a:p>
            <a:r>
              <a:rPr lang="en-GB" sz="1800" b="1" dirty="0">
                <a:solidFill>
                  <a:srgbClr val="00B050"/>
                </a:solidFill>
              </a:rPr>
              <a:t>Query :</a:t>
            </a:r>
            <a:endParaRPr lang="en-IN" sz="1800" b="1" dirty="0">
              <a:solidFill>
                <a:srgbClr val="00B050"/>
              </a:solidFill>
            </a:endParaRPr>
          </a:p>
        </p:txBody>
      </p:sp>
      <p:sp>
        <p:nvSpPr>
          <p:cNvPr id="9" name="TextBox 8">
            <a:extLst>
              <a:ext uri="{FF2B5EF4-FFF2-40B4-BE49-F238E27FC236}">
                <a16:creationId xmlns:a16="http://schemas.microsoft.com/office/drawing/2014/main" id="{9B84D51C-9426-788F-652B-6E7EB729D7A4}"/>
              </a:ext>
            </a:extLst>
          </p:cNvPr>
          <p:cNvSpPr txBox="1"/>
          <p:nvPr/>
        </p:nvSpPr>
        <p:spPr>
          <a:xfrm>
            <a:off x="6814855" y="1167638"/>
            <a:ext cx="2617940" cy="369332"/>
          </a:xfrm>
          <a:prstGeom prst="rect">
            <a:avLst/>
          </a:prstGeom>
          <a:noFill/>
        </p:spPr>
        <p:txBody>
          <a:bodyPr wrap="square" rtlCol="0">
            <a:spAutoFit/>
          </a:bodyPr>
          <a:lstStyle/>
          <a:p>
            <a:r>
              <a:rPr lang="en-GB" sz="1800" b="1" dirty="0">
                <a:solidFill>
                  <a:srgbClr val="00B050"/>
                </a:solidFill>
              </a:rPr>
              <a:t>Output :</a:t>
            </a:r>
            <a:endParaRPr lang="en-IN" sz="1800" b="1" dirty="0">
              <a:solidFill>
                <a:srgbClr val="00B050"/>
              </a:solidFill>
            </a:endParaRPr>
          </a:p>
        </p:txBody>
      </p:sp>
      <p:sp>
        <p:nvSpPr>
          <p:cNvPr id="2" name="TextBox 1">
            <a:extLst>
              <a:ext uri="{FF2B5EF4-FFF2-40B4-BE49-F238E27FC236}">
                <a16:creationId xmlns:a16="http://schemas.microsoft.com/office/drawing/2014/main" id="{73F7D9C3-5634-7E1B-1A64-DF850CC6AA53}"/>
              </a:ext>
            </a:extLst>
          </p:cNvPr>
          <p:cNvSpPr txBox="1"/>
          <p:nvPr/>
        </p:nvSpPr>
        <p:spPr>
          <a:xfrm>
            <a:off x="1252330" y="477078"/>
            <a:ext cx="7544053" cy="830997"/>
          </a:xfrm>
          <a:prstGeom prst="rect">
            <a:avLst/>
          </a:prstGeom>
          <a:noFill/>
        </p:spPr>
        <p:txBody>
          <a:bodyPr wrap="none" rtlCol="0">
            <a:spAutoFit/>
          </a:bodyPr>
          <a:lstStyle/>
          <a:p>
            <a:pPr lvl="0" eaLnBrk="0" fontAlgn="base" hangingPunct="0">
              <a:spcBef>
                <a:spcPct val="0"/>
              </a:spcBef>
              <a:spcAft>
                <a:spcPct val="0"/>
              </a:spcAft>
              <a:buClrTx/>
            </a:pPr>
            <a:r>
              <a:rPr lang="en-IN" sz="2000" dirty="0">
                <a:latin typeface="Arial Black" panose="020B0A04020102020204" pitchFamily="34" charset="0"/>
              </a:rPr>
              <a:t>2. Which Artists Are No Longer Generating Revenue?</a:t>
            </a:r>
          </a:p>
          <a:p>
            <a:pPr lvl="0" eaLnBrk="0" fontAlgn="base" hangingPunct="0">
              <a:spcBef>
                <a:spcPct val="0"/>
              </a:spcBef>
              <a:spcAft>
                <a:spcPct val="0"/>
              </a:spcAft>
              <a:buClrTx/>
            </a:pPr>
            <a:endParaRPr lang="en-IN" altLang="en-US" b="1" dirty="0">
              <a:solidFill>
                <a:schemeClr val="tx1"/>
              </a:solidFill>
              <a:latin typeface="Arial Black" panose="020B0A04020102020204" pitchFamily="34" charset="0"/>
            </a:endParaRPr>
          </a:p>
          <a:p>
            <a:endParaRPr lang="en-IN" dirty="0"/>
          </a:p>
        </p:txBody>
      </p:sp>
      <p:pic>
        <p:nvPicPr>
          <p:cNvPr id="5" name="Picture 4">
            <a:extLst>
              <a:ext uri="{FF2B5EF4-FFF2-40B4-BE49-F238E27FC236}">
                <a16:creationId xmlns:a16="http://schemas.microsoft.com/office/drawing/2014/main" id="{CA5DEC11-DC4E-8045-FBCA-E6564B3FEBE2}"/>
              </a:ext>
            </a:extLst>
          </p:cNvPr>
          <p:cNvPicPr>
            <a:picLocks noChangeAspect="1"/>
          </p:cNvPicPr>
          <p:nvPr/>
        </p:nvPicPr>
        <p:blipFill>
          <a:blip r:embed="rId3"/>
          <a:stretch>
            <a:fillRect/>
          </a:stretch>
        </p:blipFill>
        <p:spPr>
          <a:xfrm>
            <a:off x="2150227" y="1737112"/>
            <a:ext cx="2385267" cy="2606266"/>
          </a:xfrm>
          <a:prstGeom prst="rect">
            <a:avLst/>
          </a:prstGeom>
        </p:spPr>
      </p:pic>
      <p:pic>
        <p:nvPicPr>
          <p:cNvPr id="11" name="Picture 10">
            <a:extLst>
              <a:ext uri="{FF2B5EF4-FFF2-40B4-BE49-F238E27FC236}">
                <a16:creationId xmlns:a16="http://schemas.microsoft.com/office/drawing/2014/main" id="{5B4B0C13-6580-78E2-79F7-BF992CBDBFC9}"/>
              </a:ext>
            </a:extLst>
          </p:cNvPr>
          <p:cNvPicPr>
            <a:picLocks noChangeAspect="1"/>
          </p:cNvPicPr>
          <p:nvPr/>
        </p:nvPicPr>
        <p:blipFill>
          <a:blip r:embed="rId4"/>
          <a:stretch>
            <a:fillRect/>
          </a:stretch>
        </p:blipFill>
        <p:spPr>
          <a:xfrm>
            <a:off x="7913547" y="1762437"/>
            <a:ext cx="2260747" cy="2901361"/>
          </a:xfrm>
          <a:prstGeom prst="rect">
            <a:avLst/>
          </a:prstGeom>
        </p:spPr>
      </p:pic>
    </p:spTree>
    <p:extLst>
      <p:ext uri="{BB962C8B-B14F-4D97-AF65-F5344CB8AC3E}">
        <p14:creationId xmlns:p14="http://schemas.microsoft.com/office/powerpoint/2010/main" val="16181907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50DA3F3B-B091-0BA4-6DFD-56CC55DFDFE4}"/>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923F8F36-5FC6-8DED-A432-CD5C896EF947}"/>
              </a:ext>
            </a:extLst>
          </p:cNvPr>
          <p:cNvSpPr txBox="1"/>
          <p:nvPr/>
        </p:nvSpPr>
        <p:spPr>
          <a:xfrm>
            <a:off x="1366769" y="1625537"/>
            <a:ext cx="2304789" cy="369332"/>
          </a:xfrm>
          <a:prstGeom prst="rect">
            <a:avLst/>
          </a:prstGeom>
          <a:noFill/>
        </p:spPr>
        <p:txBody>
          <a:bodyPr wrap="square" rtlCol="0">
            <a:spAutoFit/>
          </a:bodyPr>
          <a:lstStyle/>
          <a:p>
            <a:r>
              <a:rPr lang="en-GB" sz="1800" b="1" dirty="0">
                <a:solidFill>
                  <a:srgbClr val="00B050"/>
                </a:solidFill>
              </a:rPr>
              <a:t>Query :</a:t>
            </a:r>
            <a:endParaRPr lang="en-IN" sz="1800" b="1" dirty="0">
              <a:solidFill>
                <a:srgbClr val="00B050"/>
              </a:solidFill>
            </a:endParaRPr>
          </a:p>
        </p:txBody>
      </p:sp>
      <p:sp>
        <p:nvSpPr>
          <p:cNvPr id="9" name="TextBox 8">
            <a:extLst>
              <a:ext uri="{FF2B5EF4-FFF2-40B4-BE49-F238E27FC236}">
                <a16:creationId xmlns:a16="http://schemas.microsoft.com/office/drawing/2014/main" id="{194520CE-EF33-ECFE-2B2A-306C45BB7120}"/>
              </a:ext>
            </a:extLst>
          </p:cNvPr>
          <p:cNvSpPr txBox="1"/>
          <p:nvPr/>
        </p:nvSpPr>
        <p:spPr>
          <a:xfrm>
            <a:off x="6814855" y="1625537"/>
            <a:ext cx="2617940" cy="369332"/>
          </a:xfrm>
          <a:prstGeom prst="rect">
            <a:avLst/>
          </a:prstGeom>
          <a:noFill/>
        </p:spPr>
        <p:txBody>
          <a:bodyPr wrap="square" rtlCol="0">
            <a:spAutoFit/>
          </a:bodyPr>
          <a:lstStyle/>
          <a:p>
            <a:r>
              <a:rPr lang="en-GB" sz="1800" b="1" dirty="0">
                <a:solidFill>
                  <a:srgbClr val="00B050"/>
                </a:solidFill>
              </a:rPr>
              <a:t>Output :</a:t>
            </a:r>
            <a:endParaRPr lang="en-IN" sz="1800" b="1" dirty="0">
              <a:solidFill>
                <a:srgbClr val="00B050"/>
              </a:solidFill>
            </a:endParaRPr>
          </a:p>
        </p:txBody>
      </p:sp>
      <p:sp>
        <p:nvSpPr>
          <p:cNvPr id="3" name="TextBox 2">
            <a:extLst>
              <a:ext uri="{FF2B5EF4-FFF2-40B4-BE49-F238E27FC236}">
                <a16:creationId xmlns:a16="http://schemas.microsoft.com/office/drawing/2014/main" id="{38E06AFF-9DB8-80D3-174B-3B8048427769}"/>
              </a:ext>
            </a:extLst>
          </p:cNvPr>
          <p:cNvSpPr txBox="1"/>
          <p:nvPr/>
        </p:nvSpPr>
        <p:spPr>
          <a:xfrm>
            <a:off x="626935" y="459019"/>
            <a:ext cx="8360523" cy="830997"/>
          </a:xfrm>
          <a:prstGeom prst="rect">
            <a:avLst/>
          </a:prstGeom>
          <a:noFill/>
        </p:spPr>
        <p:txBody>
          <a:bodyPr wrap="square">
            <a:spAutoFit/>
          </a:bodyPr>
          <a:lstStyle/>
          <a:p>
            <a:r>
              <a:rPr lang="en-IN" sz="2400" b="1" dirty="0"/>
              <a:t>3.</a:t>
            </a:r>
            <a:r>
              <a:rPr lang="en-IN" sz="2400" dirty="0">
                <a:latin typeface="Arial Black" panose="020B0A04020102020204" pitchFamily="34" charset="0"/>
              </a:rPr>
              <a:t>Which Countries Have the Lowest Purchases?</a:t>
            </a:r>
          </a:p>
          <a:p>
            <a:pPr lvl="0"/>
            <a:r>
              <a:rPr lang="en-IN" sz="2400" dirty="0"/>
              <a:t> </a:t>
            </a:r>
          </a:p>
        </p:txBody>
      </p:sp>
      <p:pic>
        <p:nvPicPr>
          <p:cNvPr id="7" name="Picture 6">
            <a:extLst>
              <a:ext uri="{FF2B5EF4-FFF2-40B4-BE49-F238E27FC236}">
                <a16:creationId xmlns:a16="http://schemas.microsoft.com/office/drawing/2014/main" id="{895B102A-55DA-945C-A500-F4111C289B44}"/>
              </a:ext>
            </a:extLst>
          </p:cNvPr>
          <p:cNvPicPr>
            <a:picLocks noChangeAspect="1"/>
          </p:cNvPicPr>
          <p:nvPr/>
        </p:nvPicPr>
        <p:blipFill>
          <a:blip r:embed="rId3"/>
          <a:stretch>
            <a:fillRect/>
          </a:stretch>
        </p:blipFill>
        <p:spPr>
          <a:xfrm>
            <a:off x="7779438" y="2151650"/>
            <a:ext cx="2617941" cy="2480895"/>
          </a:xfrm>
          <a:prstGeom prst="rect">
            <a:avLst/>
          </a:prstGeom>
        </p:spPr>
      </p:pic>
      <p:pic>
        <p:nvPicPr>
          <p:cNvPr id="15" name="Picture 14">
            <a:extLst>
              <a:ext uri="{FF2B5EF4-FFF2-40B4-BE49-F238E27FC236}">
                <a16:creationId xmlns:a16="http://schemas.microsoft.com/office/drawing/2014/main" id="{D4E1A7E0-87E5-77F6-D765-3854F287512D}"/>
              </a:ext>
            </a:extLst>
          </p:cNvPr>
          <p:cNvPicPr>
            <a:picLocks noChangeAspect="1"/>
          </p:cNvPicPr>
          <p:nvPr/>
        </p:nvPicPr>
        <p:blipFill>
          <a:blip r:embed="rId4"/>
          <a:stretch>
            <a:fillRect/>
          </a:stretch>
        </p:blipFill>
        <p:spPr>
          <a:xfrm>
            <a:off x="1088161" y="2307917"/>
            <a:ext cx="3335588" cy="1759643"/>
          </a:xfrm>
          <a:prstGeom prst="rect">
            <a:avLst/>
          </a:prstGeom>
        </p:spPr>
      </p:pic>
    </p:spTree>
    <p:extLst>
      <p:ext uri="{BB962C8B-B14F-4D97-AF65-F5344CB8AC3E}">
        <p14:creationId xmlns:p14="http://schemas.microsoft.com/office/powerpoint/2010/main" val="29669229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93A8F07-79AF-86AB-534C-8A8391FC70F5}"/>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6163DAF6-C732-575B-2130-0B88F4540FBB}"/>
              </a:ext>
            </a:extLst>
          </p:cNvPr>
          <p:cNvSpPr txBox="1"/>
          <p:nvPr/>
        </p:nvSpPr>
        <p:spPr>
          <a:xfrm>
            <a:off x="1354069" y="1352304"/>
            <a:ext cx="2304789" cy="369332"/>
          </a:xfrm>
          <a:prstGeom prst="rect">
            <a:avLst/>
          </a:prstGeom>
          <a:noFill/>
        </p:spPr>
        <p:txBody>
          <a:bodyPr wrap="square" rtlCol="0">
            <a:spAutoFit/>
          </a:bodyPr>
          <a:lstStyle/>
          <a:p>
            <a:r>
              <a:rPr lang="en-GB" sz="1800" b="1" dirty="0">
                <a:solidFill>
                  <a:srgbClr val="00B050"/>
                </a:solidFill>
              </a:rPr>
              <a:t>Query :</a:t>
            </a:r>
            <a:endParaRPr lang="en-IN" sz="1800" b="1" dirty="0">
              <a:solidFill>
                <a:srgbClr val="00B050"/>
              </a:solidFill>
            </a:endParaRPr>
          </a:p>
        </p:txBody>
      </p:sp>
      <p:sp>
        <p:nvSpPr>
          <p:cNvPr id="9" name="TextBox 8">
            <a:extLst>
              <a:ext uri="{FF2B5EF4-FFF2-40B4-BE49-F238E27FC236}">
                <a16:creationId xmlns:a16="http://schemas.microsoft.com/office/drawing/2014/main" id="{9B36077D-442C-1FEC-BEA8-0AF4D34C4D49}"/>
              </a:ext>
            </a:extLst>
          </p:cNvPr>
          <p:cNvSpPr txBox="1"/>
          <p:nvPr/>
        </p:nvSpPr>
        <p:spPr>
          <a:xfrm>
            <a:off x="6878355" y="1352304"/>
            <a:ext cx="2617940" cy="369332"/>
          </a:xfrm>
          <a:prstGeom prst="rect">
            <a:avLst/>
          </a:prstGeom>
          <a:noFill/>
        </p:spPr>
        <p:txBody>
          <a:bodyPr wrap="square" rtlCol="0">
            <a:spAutoFit/>
          </a:bodyPr>
          <a:lstStyle/>
          <a:p>
            <a:r>
              <a:rPr lang="en-GB" sz="1800" b="1" dirty="0">
                <a:solidFill>
                  <a:srgbClr val="00B050"/>
                </a:solidFill>
              </a:rPr>
              <a:t>Output :</a:t>
            </a:r>
            <a:endParaRPr lang="en-IN" sz="1800" b="1" dirty="0">
              <a:solidFill>
                <a:srgbClr val="00B050"/>
              </a:solidFill>
            </a:endParaRPr>
          </a:p>
        </p:txBody>
      </p:sp>
      <p:sp>
        <p:nvSpPr>
          <p:cNvPr id="3" name="TextBox 2">
            <a:extLst>
              <a:ext uri="{FF2B5EF4-FFF2-40B4-BE49-F238E27FC236}">
                <a16:creationId xmlns:a16="http://schemas.microsoft.com/office/drawing/2014/main" id="{7D84CDE4-F158-9606-457B-A4E3DD4BFE82}"/>
              </a:ext>
            </a:extLst>
          </p:cNvPr>
          <p:cNvSpPr txBox="1"/>
          <p:nvPr/>
        </p:nvSpPr>
        <p:spPr>
          <a:xfrm>
            <a:off x="623962" y="258418"/>
            <a:ext cx="8522522" cy="830997"/>
          </a:xfrm>
          <a:prstGeom prst="rect">
            <a:avLst/>
          </a:prstGeom>
          <a:noFill/>
        </p:spPr>
        <p:txBody>
          <a:bodyPr wrap="square">
            <a:spAutoFit/>
          </a:bodyPr>
          <a:lstStyle/>
          <a:p>
            <a:r>
              <a:rPr lang="en-IN" sz="2400" b="1" dirty="0"/>
              <a:t>4. </a:t>
            </a:r>
            <a:r>
              <a:rPr lang="en-IN" sz="2400" dirty="0">
                <a:latin typeface="Arial Black" panose="020B0A04020102020204" pitchFamily="34" charset="0"/>
              </a:rPr>
              <a:t>Which Albums Have Become Dead Inventory?</a:t>
            </a:r>
          </a:p>
          <a:p>
            <a:pPr lvl="0"/>
            <a:r>
              <a:rPr lang="en-IN" sz="2400" dirty="0"/>
              <a:t> </a:t>
            </a:r>
          </a:p>
        </p:txBody>
      </p:sp>
      <p:pic>
        <p:nvPicPr>
          <p:cNvPr id="4" name="Picture 3">
            <a:extLst>
              <a:ext uri="{FF2B5EF4-FFF2-40B4-BE49-F238E27FC236}">
                <a16:creationId xmlns:a16="http://schemas.microsoft.com/office/drawing/2014/main" id="{8FD2851D-3E1D-A037-85A8-1D471FD4D9B1}"/>
              </a:ext>
            </a:extLst>
          </p:cNvPr>
          <p:cNvPicPr>
            <a:picLocks noChangeAspect="1"/>
          </p:cNvPicPr>
          <p:nvPr/>
        </p:nvPicPr>
        <p:blipFill>
          <a:blip r:embed="rId3"/>
          <a:stretch>
            <a:fillRect/>
          </a:stretch>
        </p:blipFill>
        <p:spPr>
          <a:xfrm>
            <a:off x="2050153" y="1947104"/>
            <a:ext cx="2537680" cy="2859268"/>
          </a:xfrm>
          <a:prstGeom prst="rect">
            <a:avLst/>
          </a:prstGeom>
        </p:spPr>
      </p:pic>
      <p:pic>
        <p:nvPicPr>
          <p:cNvPr id="7" name="Picture 6">
            <a:extLst>
              <a:ext uri="{FF2B5EF4-FFF2-40B4-BE49-F238E27FC236}">
                <a16:creationId xmlns:a16="http://schemas.microsoft.com/office/drawing/2014/main" id="{B8368AE9-E4DC-FE4A-64EA-014BB619C681}"/>
              </a:ext>
            </a:extLst>
          </p:cNvPr>
          <p:cNvPicPr>
            <a:picLocks noChangeAspect="1"/>
          </p:cNvPicPr>
          <p:nvPr/>
        </p:nvPicPr>
        <p:blipFill>
          <a:blip r:embed="rId4"/>
          <a:stretch>
            <a:fillRect/>
          </a:stretch>
        </p:blipFill>
        <p:spPr>
          <a:xfrm>
            <a:off x="6273546" y="2099195"/>
            <a:ext cx="5002963" cy="2659610"/>
          </a:xfrm>
          <a:prstGeom prst="rect">
            <a:avLst/>
          </a:prstGeom>
        </p:spPr>
      </p:pic>
    </p:spTree>
    <p:extLst>
      <p:ext uri="{BB962C8B-B14F-4D97-AF65-F5344CB8AC3E}">
        <p14:creationId xmlns:p14="http://schemas.microsoft.com/office/powerpoint/2010/main" val="16542563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E20272F5-9B2E-7107-5004-53EF17FDD485}"/>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B4022639-99AA-FF6E-4674-F45DBBEE8D6B}"/>
              </a:ext>
            </a:extLst>
          </p:cNvPr>
          <p:cNvSpPr txBox="1"/>
          <p:nvPr/>
        </p:nvSpPr>
        <p:spPr>
          <a:xfrm>
            <a:off x="1440201" y="1146402"/>
            <a:ext cx="2304789" cy="369332"/>
          </a:xfrm>
          <a:prstGeom prst="rect">
            <a:avLst/>
          </a:prstGeom>
          <a:noFill/>
        </p:spPr>
        <p:txBody>
          <a:bodyPr wrap="square" rtlCol="0">
            <a:spAutoFit/>
          </a:bodyPr>
          <a:lstStyle/>
          <a:p>
            <a:r>
              <a:rPr lang="en-GB" sz="1800" b="1" dirty="0">
                <a:solidFill>
                  <a:srgbClr val="00B050"/>
                </a:solidFill>
              </a:rPr>
              <a:t>Query :</a:t>
            </a:r>
            <a:endParaRPr lang="en-IN" sz="1800" b="1" dirty="0">
              <a:solidFill>
                <a:srgbClr val="00B050"/>
              </a:solidFill>
            </a:endParaRPr>
          </a:p>
        </p:txBody>
      </p:sp>
      <p:sp>
        <p:nvSpPr>
          <p:cNvPr id="9" name="TextBox 8">
            <a:extLst>
              <a:ext uri="{FF2B5EF4-FFF2-40B4-BE49-F238E27FC236}">
                <a16:creationId xmlns:a16="http://schemas.microsoft.com/office/drawing/2014/main" id="{BF7D9364-47A4-62D6-D143-6185E752F2EF}"/>
              </a:ext>
            </a:extLst>
          </p:cNvPr>
          <p:cNvSpPr txBox="1"/>
          <p:nvPr/>
        </p:nvSpPr>
        <p:spPr>
          <a:xfrm>
            <a:off x="6852955" y="1136230"/>
            <a:ext cx="2617940" cy="369332"/>
          </a:xfrm>
          <a:prstGeom prst="rect">
            <a:avLst/>
          </a:prstGeom>
          <a:noFill/>
        </p:spPr>
        <p:txBody>
          <a:bodyPr wrap="square" rtlCol="0">
            <a:spAutoFit/>
          </a:bodyPr>
          <a:lstStyle/>
          <a:p>
            <a:r>
              <a:rPr lang="en-GB" sz="1800" b="1" dirty="0">
                <a:solidFill>
                  <a:srgbClr val="00B050"/>
                </a:solidFill>
              </a:rPr>
              <a:t>Output :</a:t>
            </a:r>
            <a:endParaRPr lang="en-IN" sz="1800" b="1" dirty="0">
              <a:solidFill>
                <a:srgbClr val="00B050"/>
              </a:solidFill>
            </a:endParaRPr>
          </a:p>
        </p:txBody>
      </p:sp>
      <p:sp>
        <p:nvSpPr>
          <p:cNvPr id="3" name="TextBox 2">
            <a:extLst>
              <a:ext uri="{FF2B5EF4-FFF2-40B4-BE49-F238E27FC236}">
                <a16:creationId xmlns:a16="http://schemas.microsoft.com/office/drawing/2014/main" id="{198ACF4D-F544-FC93-D954-B00B26AE96A1}"/>
              </a:ext>
            </a:extLst>
          </p:cNvPr>
          <p:cNvSpPr txBox="1"/>
          <p:nvPr/>
        </p:nvSpPr>
        <p:spPr>
          <a:xfrm>
            <a:off x="696162" y="352512"/>
            <a:ext cx="9242968" cy="461665"/>
          </a:xfrm>
          <a:prstGeom prst="rect">
            <a:avLst/>
          </a:prstGeom>
          <a:noFill/>
        </p:spPr>
        <p:txBody>
          <a:bodyPr wrap="square">
            <a:spAutoFit/>
          </a:bodyPr>
          <a:lstStyle/>
          <a:p>
            <a:pPr lvl="0"/>
            <a:r>
              <a:rPr lang="en-IN" sz="2400" b="1" dirty="0"/>
              <a:t>5. </a:t>
            </a:r>
            <a:r>
              <a:rPr lang="en-IN" sz="2400" dirty="0">
                <a:latin typeface="Arial Black" panose="020B0A04020102020204" pitchFamily="34" charset="0"/>
              </a:rPr>
              <a:t>Which Artists Should Receive New Contracts?</a:t>
            </a:r>
            <a:endParaRPr lang="en-IN" sz="2400" dirty="0"/>
          </a:p>
        </p:txBody>
      </p:sp>
      <p:pic>
        <p:nvPicPr>
          <p:cNvPr id="4" name="Picture 3">
            <a:extLst>
              <a:ext uri="{FF2B5EF4-FFF2-40B4-BE49-F238E27FC236}">
                <a16:creationId xmlns:a16="http://schemas.microsoft.com/office/drawing/2014/main" id="{032E3151-DD47-C9AA-97D0-24376C879886}"/>
              </a:ext>
            </a:extLst>
          </p:cNvPr>
          <p:cNvPicPr>
            <a:picLocks noChangeAspect="1"/>
          </p:cNvPicPr>
          <p:nvPr/>
        </p:nvPicPr>
        <p:blipFill>
          <a:blip r:embed="rId3"/>
          <a:stretch>
            <a:fillRect/>
          </a:stretch>
        </p:blipFill>
        <p:spPr>
          <a:xfrm>
            <a:off x="1259478" y="1679713"/>
            <a:ext cx="2842746" cy="2863296"/>
          </a:xfrm>
          <a:prstGeom prst="rect">
            <a:avLst/>
          </a:prstGeom>
        </p:spPr>
      </p:pic>
      <p:pic>
        <p:nvPicPr>
          <p:cNvPr id="7" name="Picture 6">
            <a:extLst>
              <a:ext uri="{FF2B5EF4-FFF2-40B4-BE49-F238E27FC236}">
                <a16:creationId xmlns:a16="http://schemas.microsoft.com/office/drawing/2014/main" id="{E736ACB4-2B8B-4AB6-DF2D-F7F2BAC52C40}"/>
              </a:ext>
            </a:extLst>
          </p:cNvPr>
          <p:cNvPicPr>
            <a:picLocks noChangeAspect="1"/>
          </p:cNvPicPr>
          <p:nvPr/>
        </p:nvPicPr>
        <p:blipFill>
          <a:blip r:embed="rId4"/>
          <a:stretch>
            <a:fillRect/>
          </a:stretch>
        </p:blipFill>
        <p:spPr>
          <a:xfrm>
            <a:off x="7186907" y="1679713"/>
            <a:ext cx="3565015" cy="3083848"/>
          </a:xfrm>
          <a:prstGeom prst="rect">
            <a:avLst/>
          </a:prstGeom>
        </p:spPr>
      </p:pic>
    </p:spTree>
    <p:extLst>
      <p:ext uri="{BB962C8B-B14F-4D97-AF65-F5344CB8AC3E}">
        <p14:creationId xmlns:p14="http://schemas.microsoft.com/office/powerpoint/2010/main" val="8503212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91E53DA-8BDC-C841-FBC6-95314536EB9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F7DF0F4-220E-ABCF-3329-EFFC46BB5F3E}"/>
              </a:ext>
            </a:extLst>
          </p:cNvPr>
          <p:cNvSpPr txBox="1"/>
          <p:nvPr/>
        </p:nvSpPr>
        <p:spPr>
          <a:xfrm>
            <a:off x="248478" y="248478"/>
            <a:ext cx="4487295" cy="584775"/>
          </a:xfrm>
          <a:prstGeom prst="rect">
            <a:avLst/>
          </a:prstGeom>
          <a:noFill/>
        </p:spPr>
        <p:txBody>
          <a:bodyPr wrap="square" rtlCol="0">
            <a:spAutoFit/>
          </a:bodyPr>
          <a:lstStyle/>
          <a:p>
            <a:r>
              <a:rPr lang="en-GB" sz="3200" b="1" dirty="0">
                <a:solidFill>
                  <a:srgbClr val="00B0F0"/>
                </a:solidFill>
              </a:rPr>
              <a:t>Conclusion:-</a:t>
            </a:r>
            <a:endParaRPr lang="en-IN" sz="3200" b="1" dirty="0">
              <a:solidFill>
                <a:srgbClr val="00B0F0"/>
              </a:solidFill>
            </a:endParaRPr>
          </a:p>
        </p:txBody>
      </p:sp>
      <p:sp>
        <p:nvSpPr>
          <p:cNvPr id="5" name="TextBox 4">
            <a:extLst>
              <a:ext uri="{FF2B5EF4-FFF2-40B4-BE49-F238E27FC236}">
                <a16:creationId xmlns:a16="http://schemas.microsoft.com/office/drawing/2014/main" id="{A05EF9D6-ADEA-089A-2AE6-9DFADCD479C6}"/>
              </a:ext>
            </a:extLst>
          </p:cNvPr>
          <p:cNvSpPr txBox="1"/>
          <p:nvPr/>
        </p:nvSpPr>
        <p:spPr>
          <a:xfrm>
            <a:off x="427383" y="1143000"/>
            <a:ext cx="11400182" cy="4924425"/>
          </a:xfrm>
          <a:prstGeom prst="rect">
            <a:avLst/>
          </a:prstGeom>
          <a:noFill/>
        </p:spPr>
        <p:txBody>
          <a:bodyPr wrap="square">
            <a:spAutoFit/>
          </a:bodyPr>
          <a:lstStyle/>
          <a:p>
            <a:r>
              <a:rPr lang="en-IN" sz="2000" dirty="0">
                <a:latin typeface="Arial Black" panose="020B0A04020102020204" pitchFamily="34" charset="0"/>
              </a:rPr>
              <a:t>This project demonstrated how </a:t>
            </a:r>
            <a:r>
              <a:rPr lang="en-IN" sz="2000" b="1" dirty="0">
                <a:latin typeface="Arial Black" panose="020B0A04020102020204" pitchFamily="34" charset="0"/>
              </a:rPr>
              <a:t>Advanced SQL</a:t>
            </a:r>
            <a:r>
              <a:rPr lang="en-IN" sz="2000" dirty="0">
                <a:latin typeface="Arial Black" panose="020B0A04020102020204" pitchFamily="34" charset="0"/>
              </a:rPr>
              <a:t> can be used to solve real business problems using the Chinook database. Instead of generating simple reports, the analysis focused on supporting strategic business decisions such as identifying high-value customers, selecting countries for business expansion, </a:t>
            </a:r>
            <a:r>
              <a:rPr lang="en-IN" sz="2000" dirty="0" err="1">
                <a:latin typeface="Arial Black" panose="020B0A04020102020204" pitchFamily="34" charset="0"/>
              </a:rPr>
              <a:t>analyzing</a:t>
            </a:r>
            <a:r>
              <a:rPr lang="en-IN" sz="2000" dirty="0">
                <a:latin typeface="Arial Black" panose="020B0A04020102020204" pitchFamily="34" charset="0"/>
              </a:rPr>
              <a:t> customer purchasing </a:t>
            </a:r>
            <a:r>
              <a:rPr lang="en-IN" sz="2000" dirty="0" err="1">
                <a:latin typeface="Arial Black" panose="020B0A04020102020204" pitchFamily="34" charset="0"/>
              </a:rPr>
              <a:t>behavior</a:t>
            </a:r>
            <a:r>
              <a:rPr lang="en-IN" sz="2000" dirty="0">
                <a:latin typeface="Arial Black" panose="020B0A04020102020204" pitchFamily="34" charset="0"/>
              </a:rPr>
              <a:t>, optimizing product performance, and improving marketing strategies.</a:t>
            </a:r>
          </a:p>
          <a:p>
            <a:endParaRPr lang="en-IN" sz="2000" dirty="0">
              <a:latin typeface="Arial Black" panose="020B0A04020102020204" pitchFamily="34" charset="0"/>
            </a:endParaRPr>
          </a:p>
          <a:p>
            <a:r>
              <a:rPr lang="en-IN" sz="2000" dirty="0">
                <a:latin typeface="Arial Black" panose="020B0A04020102020204" pitchFamily="34" charset="0"/>
              </a:rPr>
              <a:t>By applying advanced SQL concepts such as </a:t>
            </a:r>
            <a:r>
              <a:rPr lang="en-IN" sz="2000" b="1" dirty="0">
                <a:latin typeface="Arial Black" panose="020B0A04020102020204" pitchFamily="34" charset="0"/>
              </a:rPr>
              <a:t>Common Table Expressions (CTEs), Window Functions, CASE expressions, Aggregate Functions, Subqueries, and Joins</a:t>
            </a:r>
            <a:r>
              <a:rPr lang="en-IN" sz="2000" dirty="0">
                <a:latin typeface="Arial Black" panose="020B0A04020102020204" pitchFamily="34" charset="0"/>
              </a:rPr>
              <a:t>, meaningful insights were extracted from transactional data. These insights can help management allocate marketing budgets more effectively, improve customer retention, optimize the product </a:t>
            </a:r>
            <a:r>
              <a:rPr lang="en-IN" sz="2000" dirty="0" err="1">
                <a:latin typeface="Arial Black" panose="020B0A04020102020204" pitchFamily="34" charset="0"/>
              </a:rPr>
              <a:t>catalog</a:t>
            </a:r>
            <a:r>
              <a:rPr lang="en-IN" sz="2000" dirty="0">
                <a:latin typeface="Arial Black" panose="020B0A04020102020204" pitchFamily="34" charset="0"/>
              </a:rPr>
              <a:t>, and support data-driven decision-making.</a:t>
            </a:r>
          </a:p>
          <a:p>
            <a:r>
              <a:rPr lang="en-IN" sz="2000" dirty="0">
                <a:latin typeface="Arial Black" panose="020B0A04020102020204" pitchFamily="34" charset="0"/>
              </a:rPr>
              <a:t>Overall, this project highlights the importance of SQL as a powerful analytical tool for transforming raw business data into actionable insights.</a:t>
            </a:r>
          </a:p>
          <a:p>
            <a:pPr marL="285750" indent="-285750">
              <a:buFont typeface="Wingdings" panose="05000000000000000000" pitchFamily="2" charset="2"/>
              <a:buChar char="§"/>
            </a:pPr>
            <a:endParaRPr lang="en-IN" dirty="0"/>
          </a:p>
        </p:txBody>
      </p:sp>
    </p:spTree>
    <p:extLst>
      <p:ext uri="{BB962C8B-B14F-4D97-AF65-F5344CB8AC3E}">
        <p14:creationId xmlns:p14="http://schemas.microsoft.com/office/powerpoint/2010/main" val="26069977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E42D5191-D6DD-1E4F-CDB3-38DE5971DDB3}"/>
            </a:ext>
          </a:extLst>
        </p:cNvPr>
        <p:cNvGrpSpPr/>
        <p:nvPr/>
      </p:nvGrpSpPr>
      <p:grpSpPr>
        <a:xfrm>
          <a:off x="0" y="0"/>
          <a:ext cx="0" cy="0"/>
          <a:chOff x="0" y="0"/>
          <a:chExt cx="0" cy="0"/>
        </a:xfrm>
      </p:grpSpPr>
      <p:sp>
        <p:nvSpPr>
          <p:cNvPr id="4" name="Rectangle 1">
            <a:extLst>
              <a:ext uri="{FF2B5EF4-FFF2-40B4-BE49-F238E27FC236}">
                <a16:creationId xmlns:a16="http://schemas.microsoft.com/office/drawing/2014/main" id="{AE37E6BF-0865-B028-48CE-1B5A0C3010A7}"/>
              </a:ext>
            </a:extLst>
          </p:cNvPr>
          <p:cNvSpPr>
            <a:spLocks noChangeArrowheads="1"/>
          </p:cNvSpPr>
          <p:nvPr/>
        </p:nvSpPr>
        <p:spPr bwMode="auto">
          <a:xfrm>
            <a:off x="636895" y="1106545"/>
            <a:ext cx="10873310"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a:buFont typeface="Wingdings" panose="05000000000000000000" pitchFamily="2" charset="2"/>
              <a:buChar char="Ø"/>
            </a:pPr>
            <a:endParaRPr lang="en-IN" sz="2000" dirty="0">
              <a:latin typeface="Arial Black" panose="020B0A04020102020204" pitchFamily="34" charset="0"/>
            </a:endParaRPr>
          </a:p>
          <a:p>
            <a:pPr marL="342900" lvl="0" indent="-342900">
              <a:buFont typeface="Wingdings" panose="05000000000000000000" pitchFamily="2" charset="2"/>
              <a:buChar char="Ø"/>
            </a:pPr>
            <a:endParaRPr lang="en-IN" sz="2000" dirty="0">
              <a:latin typeface="Arial Black" panose="020B0A04020102020204" pitchFamily="34" charset="0"/>
            </a:endParaRPr>
          </a:p>
          <a:p>
            <a:pPr marL="342900" lvl="0" indent="-342900">
              <a:buFont typeface="Wingdings" panose="05000000000000000000" pitchFamily="2" charset="2"/>
              <a:buChar char="Ø"/>
            </a:pPr>
            <a:r>
              <a:rPr lang="en-IN" sz="2000" dirty="0">
                <a:latin typeface="Arial Black" panose="020B0A04020102020204" pitchFamily="34" charset="0"/>
              </a:rPr>
              <a:t>Understanding the Database Schema</a:t>
            </a:r>
          </a:p>
          <a:p>
            <a:pPr marL="342900" lvl="0" indent="-342900">
              <a:buFont typeface="Wingdings" panose="05000000000000000000" pitchFamily="2" charset="2"/>
              <a:buChar char="Ø"/>
            </a:pPr>
            <a:endParaRPr lang="en-IN" sz="2000" dirty="0">
              <a:latin typeface="Arial Black" panose="020B0A04020102020204" pitchFamily="34" charset="0"/>
            </a:endParaRPr>
          </a:p>
          <a:p>
            <a:pPr marL="342900" lvl="0" indent="-342900">
              <a:buFont typeface="Wingdings" panose="05000000000000000000" pitchFamily="2" charset="2"/>
              <a:buChar char="Ø"/>
            </a:pPr>
            <a:r>
              <a:rPr lang="en-IN" sz="2000" dirty="0">
                <a:latin typeface="Arial Black" panose="020B0A04020102020204" pitchFamily="34" charset="0"/>
              </a:rPr>
              <a:t>Identifying Real Business Problems</a:t>
            </a:r>
          </a:p>
          <a:p>
            <a:pPr marL="342900" lvl="0" indent="-342900">
              <a:buFont typeface="Wingdings" panose="05000000000000000000" pitchFamily="2" charset="2"/>
              <a:buChar char="Ø"/>
            </a:pPr>
            <a:endParaRPr lang="en-IN" sz="2000" dirty="0">
              <a:latin typeface="Arial Black" panose="020B0A04020102020204" pitchFamily="34" charset="0"/>
            </a:endParaRPr>
          </a:p>
          <a:p>
            <a:pPr marL="342900" lvl="0" indent="-342900">
              <a:buFont typeface="Wingdings" panose="05000000000000000000" pitchFamily="2" charset="2"/>
              <a:buChar char="Ø"/>
            </a:pPr>
            <a:r>
              <a:rPr lang="en-IN" sz="2000" dirty="0">
                <a:latin typeface="Arial Black" panose="020B0A04020102020204" pitchFamily="34" charset="0"/>
              </a:rPr>
              <a:t>Writing Advanced SQL Queries</a:t>
            </a:r>
          </a:p>
          <a:p>
            <a:pPr marL="342900" lvl="0" indent="-342900">
              <a:buFont typeface="Wingdings" panose="05000000000000000000" pitchFamily="2" charset="2"/>
              <a:buChar char="Ø"/>
            </a:pPr>
            <a:endParaRPr lang="en-IN" sz="2000" dirty="0">
              <a:latin typeface="Arial Black" panose="020B0A04020102020204" pitchFamily="34" charset="0"/>
            </a:endParaRPr>
          </a:p>
          <a:p>
            <a:pPr marL="342900" lvl="0" indent="-342900">
              <a:buFont typeface="Wingdings" panose="05000000000000000000" pitchFamily="2" charset="2"/>
              <a:buChar char="Ø"/>
            </a:pPr>
            <a:r>
              <a:rPr lang="en-IN" sz="2000" dirty="0">
                <a:latin typeface="Arial Black" panose="020B0A04020102020204" pitchFamily="34" charset="0"/>
              </a:rPr>
              <a:t>Designing business-oriented SQL queries.</a:t>
            </a:r>
          </a:p>
          <a:p>
            <a:pPr marL="342900" lvl="0" indent="-342900">
              <a:buFont typeface="Wingdings" panose="05000000000000000000" pitchFamily="2" charset="2"/>
              <a:buChar char="Ø"/>
            </a:pPr>
            <a:endParaRPr lang="en-IN" sz="2000" dirty="0">
              <a:latin typeface="Arial Black" panose="020B0A04020102020204" pitchFamily="34" charset="0"/>
            </a:endParaRPr>
          </a:p>
          <a:p>
            <a:pPr marL="342900" lvl="0" indent="-342900">
              <a:buFont typeface="Wingdings" panose="05000000000000000000" pitchFamily="2" charset="2"/>
              <a:buChar char="Ø"/>
            </a:pPr>
            <a:r>
              <a:rPr lang="en-IN" sz="2000" dirty="0">
                <a:latin typeface="Arial Black" panose="020B0A04020102020204" pitchFamily="34" charset="0"/>
              </a:rPr>
              <a:t>Working with relational database schemas and table relationships</a:t>
            </a:r>
          </a:p>
          <a:p>
            <a:pPr marL="342900" lvl="0" indent="-342900">
              <a:buFont typeface="Wingdings" panose="05000000000000000000" pitchFamily="2" charset="2"/>
              <a:buChar char="Ø"/>
            </a:pPr>
            <a:endParaRPr lang="en-IN" sz="2000" dirty="0">
              <a:latin typeface="Arial Black" panose="020B0A04020102020204" pitchFamily="34" charset="0"/>
            </a:endParaRPr>
          </a:p>
          <a:p>
            <a:pPr marL="342900" lvl="0" indent="-342900">
              <a:buFont typeface="Wingdings" panose="05000000000000000000" pitchFamily="2" charset="2"/>
              <a:buChar char="Ø"/>
            </a:pPr>
            <a:r>
              <a:rPr lang="en-IN" sz="2000" dirty="0">
                <a:latin typeface="Arial Black" panose="020B0A04020102020204" pitchFamily="34" charset="0"/>
              </a:rPr>
              <a:t>Using advanced SQL features such as CTEs, Window Functions (RANK, DENSE_RANK, ROW_NUMBER, NTILE), CASE expressions, and aggregate functions.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a:ln>
                <a:noFill/>
              </a:ln>
              <a:solidFill>
                <a:schemeClr val="tx1"/>
              </a:solidFill>
              <a:effectLst/>
              <a:latin typeface="Arial" panose="020B0604020202020204" pitchFamily="34" charset="0"/>
            </a:endParaRPr>
          </a:p>
        </p:txBody>
      </p:sp>
      <p:sp>
        <p:nvSpPr>
          <p:cNvPr id="5" name="TextBox 4">
            <a:extLst>
              <a:ext uri="{FF2B5EF4-FFF2-40B4-BE49-F238E27FC236}">
                <a16:creationId xmlns:a16="http://schemas.microsoft.com/office/drawing/2014/main" id="{23F8D548-850A-A001-A836-55B1B47A8798}"/>
              </a:ext>
            </a:extLst>
          </p:cNvPr>
          <p:cNvSpPr txBox="1"/>
          <p:nvPr/>
        </p:nvSpPr>
        <p:spPr>
          <a:xfrm>
            <a:off x="636895" y="383964"/>
            <a:ext cx="7892956" cy="584775"/>
          </a:xfrm>
          <a:prstGeom prst="rect">
            <a:avLst/>
          </a:prstGeom>
          <a:noFill/>
        </p:spPr>
        <p:txBody>
          <a:bodyPr wrap="square" rtlCol="0">
            <a:spAutoFit/>
          </a:bodyPr>
          <a:lstStyle/>
          <a:p>
            <a:r>
              <a:rPr lang="en-IN" sz="3200" b="1" dirty="0">
                <a:solidFill>
                  <a:srgbClr val="00B0F0"/>
                </a:solidFill>
              </a:rPr>
              <a:t>Our Experience / Challenges Working</a:t>
            </a:r>
          </a:p>
        </p:txBody>
      </p:sp>
    </p:spTree>
    <p:extLst>
      <p:ext uri="{BB962C8B-B14F-4D97-AF65-F5344CB8AC3E}">
        <p14:creationId xmlns:p14="http://schemas.microsoft.com/office/powerpoint/2010/main" val="14552456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81757" y="1861900"/>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a:solidFill>
                  <a:srgbClr val="C00000"/>
                </a:solidFill>
                <a:latin typeface="Libre Baskerville"/>
                <a:ea typeface="Libre Baskerville"/>
                <a:cs typeface="Libre Baskerville"/>
                <a:sym typeface="Libre Baskerville"/>
              </a:rPr>
              <a:t>THANK YOU</a:t>
            </a:r>
            <a:endParaRPr sz="1800" b="0" i="0" u="none" strike="noStrike" cap="none" dirty="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1891</TotalTime>
  <Words>532</Words>
  <Application>Microsoft Office PowerPoint</Application>
  <PresentationFormat>Widescreen</PresentationFormat>
  <Paragraphs>85</Paragraphs>
  <Slides>15</Slides>
  <Notes>14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Arial</vt:lpstr>
      <vt:lpstr>Libre Baskerville</vt:lpstr>
      <vt:lpstr>Arial Black</vt:lpstr>
      <vt:lpstr>Calibri</vt:lpstr>
      <vt:lpstr>Cooper Black</vt:lpstr>
      <vt:lpstr>Wingdings</vt:lpstr>
      <vt:lpstr>Office Theme</vt:lpstr>
      <vt:lpstr>PowerPoint Presentation</vt:lpstr>
      <vt:lpstr>PowerPoint Presentation</vt:lpstr>
      <vt:lpstr>PowerPoint Presentation</vt:lpstr>
      <vt:lpstr>Agenda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Raghu Ram Aduri</dc:creator>
  <cp:lastModifiedBy>Alugu Srivardhan</cp:lastModifiedBy>
  <cp:revision>27</cp:revision>
  <dcterms:created xsi:type="dcterms:W3CDTF">2021-02-16T05:19:01Z</dcterms:created>
  <dcterms:modified xsi:type="dcterms:W3CDTF">2026-08-07T07:18:34Z</dcterms:modified>
</cp:coreProperties>
</file>